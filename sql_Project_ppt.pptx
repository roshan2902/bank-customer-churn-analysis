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8" r:id="rId1"/>
  </p:sldMasterIdLst>
  <p:sldIdLst>
    <p:sldId id="256" r:id="rId2"/>
    <p:sldId id="272" r:id="rId3"/>
    <p:sldId id="275" r:id="rId4"/>
    <p:sldId id="288" r:id="rId5"/>
    <p:sldId id="259" r:id="rId6"/>
    <p:sldId id="276" r:id="rId7"/>
    <p:sldId id="287" r:id="rId8"/>
    <p:sldId id="258" r:id="rId9"/>
    <p:sldId id="278" r:id="rId10"/>
    <p:sldId id="289" r:id="rId11"/>
    <p:sldId id="290" r:id="rId12"/>
    <p:sldId id="279" r:id="rId13"/>
    <p:sldId id="291" r:id="rId14"/>
    <p:sldId id="292" r:id="rId15"/>
    <p:sldId id="293" r:id="rId16"/>
    <p:sldId id="294" r:id="rId17"/>
    <p:sldId id="295" r:id="rId18"/>
    <p:sldId id="296" r:id="rId19"/>
    <p:sldId id="297" r:id="rId20"/>
    <p:sldId id="298" r:id="rId21"/>
    <p:sldId id="284" r:id="rId22"/>
    <p:sldId id="286" r:id="rId23"/>
    <p:sldId id="26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cstate="email">
            <a:alphaModFix amt="30000"/>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545BFEB1-C5B6-497F-9C47-484BBB7969ED}" type="datetimeFigureOut">
              <a:rPr lang="en-US" smtClean="0"/>
              <a:t>5/10/2024</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2B6B4BEF-56CF-4D39-98C0-595B4BAB880F}" type="slidenum">
              <a:rPr lang="en-US" smtClean="0"/>
              <a:t>‹#›</a:t>
            </a:fld>
            <a:endParaRPr lang="en-US"/>
          </a:p>
        </p:txBody>
      </p:sp>
    </p:spTree>
    <p:extLst>
      <p:ext uri="{BB962C8B-B14F-4D97-AF65-F5344CB8AC3E}">
        <p14:creationId xmlns:p14="http://schemas.microsoft.com/office/powerpoint/2010/main" val="1101117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5BFEB1-C5B6-497F-9C47-484BBB7969ED}" type="datetimeFigureOut">
              <a:rPr lang="en-US" smtClean="0"/>
              <a:t>5/10/2024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6B4BEF-56CF-4D39-98C0-595B4BAB880F}" type="slidenum">
              <a:rPr lang="en-US" smtClean="0"/>
              <a:t>‹#›</a:t>
            </a:fld>
            <a:endParaRPr lang="en-US"/>
          </a:p>
        </p:txBody>
      </p:sp>
    </p:spTree>
    <p:extLst>
      <p:ext uri="{BB962C8B-B14F-4D97-AF65-F5344CB8AC3E}">
        <p14:creationId xmlns:p14="http://schemas.microsoft.com/office/powerpoint/2010/main" val="1523043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5BFEB1-C5B6-497F-9C47-484BBB7969ED}" type="datetimeFigureOut">
              <a:rPr lang="en-US" smtClean="0"/>
              <a:t>5/10/2024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6B4BEF-56CF-4D39-98C0-595B4BAB880F}" type="slidenum">
              <a:rPr lang="en-US" smtClean="0"/>
              <a:t>‹#›</a:t>
            </a:fld>
            <a:endParaRPr lang="en-US"/>
          </a:p>
        </p:txBody>
      </p:sp>
    </p:spTree>
    <p:extLst>
      <p:ext uri="{BB962C8B-B14F-4D97-AF65-F5344CB8AC3E}">
        <p14:creationId xmlns:p14="http://schemas.microsoft.com/office/powerpoint/2010/main" val="797064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5BFEB1-C5B6-497F-9C47-484BBB7969ED}" type="datetimeFigureOut">
              <a:rPr lang="en-US" smtClean="0"/>
              <a:t>5/10/2024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6B4BEF-56CF-4D39-98C0-595B4BAB880F}" type="slidenum">
              <a:rPr lang="en-US" smtClean="0"/>
              <a:t>‹#›</a:t>
            </a:fld>
            <a:endParaRPr lang="en-US"/>
          </a:p>
        </p:txBody>
      </p:sp>
    </p:spTree>
    <p:extLst>
      <p:ext uri="{BB962C8B-B14F-4D97-AF65-F5344CB8AC3E}">
        <p14:creationId xmlns:p14="http://schemas.microsoft.com/office/powerpoint/2010/main" val="3635899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5BFEB1-C5B6-497F-9C47-484BBB7969ED}" type="datetimeFigureOut">
              <a:rPr lang="en-US" smtClean="0"/>
              <a:t>5/10/2024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6B4BEF-56CF-4D39-98C0-595B4BAB880F}" type="slidenum">
              <a:rPr lang="en-US" smtClean="0"/>
              <a:t>‹#›</a:t>
            </a:fld>
            <a:endParaRPr lang="en-US"/>
          </a:p>
        </p:txBody>
      </p:sp>
    </p:spTree>
    <p:extLst>
      <p:ext uri="{BB962C8B-B14F-4D97-AF65-F5344CB8AC3E}">
        <p14:creationId xmlns:p14="http://schemas.microsoft.com/office/powerpoint/2010/main" val="2125589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5BFEB1-C5B6-497F-9C47-484BBB7969ED}" type="datetimeFigureOut">
              <a:rPr lang="en-US" smtClean="0"/>
              <a:t>5/10/2024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6B4BEF-56CF-4D39-98C0-595B4BAB880F}" type="slidenum">
              <a:rPr lang="en-US" smtClean="0"/>
              <a:t>‹#›</a:t>
            </a:fld>
            <a:endParaRPr lang="en-US"/>
          </a:p>
        </p:txBody>
      </p:sp>
    </p:spTree>
    <p:extLst>
      <p:ext uri="{BB962C8B-B14F-4D97-AF65-F5344CB8AC3E}">
        <p14:creationId xmlns:p14="http://schemas.microsoft.com/office/powerpoint/2010/main" val="3458217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5BFEB1-C5B6-497F-9C47-484BBB7969ED}" type="datetimeFigureOut">
              <a:rPr lang="en-US" smtClean="0"/>
              <a:t>5/10/2024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6B4BEF-56CF-4D39-98C0-595B4BAB880F}" type="slidenum">
              <a:rPr lang="en-US" smtClean="0"/>
              <a:t>‹#›</a:t>
            </a:fld>
            <a:endParaRPr lang="en-US"/>
          </a:p>
        </p:txBody>
      </p:sp>
    </p:spTree>
    <p:extLst>
      <p:ext uri="{BB962C8B-B14F-4D97-AF65-F5344CB8AC3E}">
        <p14:creationId xmlns:p14="http://schemas.microsoft.com/office/powerpoint/2010/main" val="2798035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5BFEB1-C5B6-497F-9C47-484BBB7969ED}" type="datetimeFigureOut">
              <a:rPr lang="en-US" smtClean="0"/>
              <a:t>5/10/2024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6B4BEF-56CF-4D39-98C0-595B4BAB880F}" type="slidenum">
              <a:rPr lang="en-US" smtClean="0"/>
              <a:t>‹#›</a:t>
            </a:fld>
            <a:endParaRPr lang="en-US"/>
          </a:p>
        </p:txBody>
      </p:sp>
    </p:spTree>
    <p:extLst>
      <p:ext uri="{BB962C8B-B14F-4D97-AF65-F5344CB8AC3E}">
        <p14:creationId xmlns:p14="http://schemas.microsoft.com/office/powerpoint/2010/main" val="1851222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5BFEB1-C5B6-497F-9C47-484BBB7969ED}" type="datetimeFigureOut">
              <a:rPr lang="en-US" smtClean="0"/>
              <a:t>5/10/2024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6B4BEF-56CF-4D39-98C0-595B4BAB880F}" type="slidenum">
              <a:rPr lang="en-US" smtClean="0"/>
              <a:t>‹#›</a:t>
            </a:fld>
            <a:endParaRPr lang="en-US"/>
          </a:p>
        </p:txBody>
      </p:sp>
    </p:spTree>
    <p:extLst>
      <p:ext uri="{BB962C8B-B14F-4D97-AF65-F5344CB8AC3E}">
        <p14:creationId xmlns:p14="http://schemas.microsoft.com/office/powerpoint/2010/main" val="3254884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5BFEB1-C5B6-497F-9C47-484BBB7969ED}" type="datetimeFigureOut">
              <a:rPr lang="en-US" smtClean="0"/>
              <a:t>5/10/2024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6B4BEF-56CF-4D39-98C0-595B4BAB880F}" type="slidenum">
              <a:rPr lang="en-US" smtClean="0"/>
              <a:t>‹#›</a:t>
            </a:fld>
            <a:endParaRPr lang="en-US"/>
          </a:p>
        </p:txBody>
      </p:sp>
    </p:spTree>
    <p:extLst>
      <p:ext uri="{BB962C8B-B14F-4D97-AF65-F5344CB8AC3E}">
        <p14:creationId xmlns:p14="http://schemas.microsoft.com/office/powerpoint/2010/main" val="3809581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5BFEB1-C5B6-497F-9C47-484BBB7969ED}" type="datetimeFigureOut">
              <a:rPr lang="en-US" smtClean="0"/>
              <a:t>5/10/2024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6B4BEF-56CF-4D39-98C0-595B4BAB880F}" type="slidenum">
              <a:rPr lang="en-US" smtClean="0"/>
              <a:t>‹#›</a:t>
            </a:fld>
            <a:endParaRPr lang="en-US"/>
          </a:p>
        </p:txBody>
      </p:sp>
    </p:spTree>
    <p:extLst>
      <p:ext uri="{BB962C8B-B14F-4D97-AF65-F5344CB8AC3E}">
        <p14:creationId xmlns:p14="http://schemas.microsoft.com/office/powerpoint/2010/main" val="3137903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5BFEB1-C5B6-497F-9C47-484BBB7969ED}" type="datetimeFigureOut">
              <a:rPr lang="en-US" smtClean="0"/>
              <a:t>5/10/2024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6B4BEF-56CF-4D39-98C0-595B4BAB880F}"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737063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5BFEB1-C5B6-497F-9C47-484BBB7969ED}" type="datetimeFigureOut">
              <a:rPr lang="en-US" smtClean="0"/>
              <a:t>5/10/2024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6B4BEF-56CF-4D39-98C0-595B4BAB880F}" type="slidenum">
              <a:rPr lang="en-US" smtClean="0"/>
              <a:t>‹#›</a:t>
            </a:fld>
            <a:endParaRPr lang="en-US"/>
          </a:p>
        </p:txBody>
      </p:sp>
    </p:spTree>
    <p:extLst>
      <p:ext uri="{BB962C8B-B14F-4D97-AF65-F5344CB8AC3E}">
        <p14:creationId xmlns:p14="http://schemas.microsoft.com/office/powerpoint/2010/main" val="898785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45BFEB1-C5B6-497F-9C47-484BBB7969ED}" type="datetimeFigureOut">
              <a:rPr lang="en-US" smtClean="0"/>
              <a:t>5/10/2024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6B4BEF-56CF-4D39-98C0-595B4BAB880F}" type="slidenum">
              <a:rPr lang="en-US" smtClean="0"/>
              <a:t>‹#›</a:t>
            </a:fld>
            <a:endParaRPr lang="en-US"/>
          </a:p>
        </p:txBody>
      </p:sp>
    </p:spTree>
    <p:extLst>
      <p:ext uri="{BB962C8B-B14F-4D97-AF65-F5344CB8AC3E}">
        <p14:creationId xmlns:p14="http://schemas.microsoft.com/office/powerpoint/2010/main" val="21843130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45BFEB1-C5B6-497F-9C47-484BBB7969ED}" type="datetimeFigureOut">
              <a:rPr lang="en-US" smtClean="0"/>
              <a:t>5/10/2024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6B4BEF-56CF-4D39-98C0-595B4BAB880F}" type="slidenum">
              <a:rPr lang="en-US" smtClean="0"/>
              <a:t>‹#›</a:t>
            </a:fld>
            <a:endParaRPr lang="en-US"/>
          </a:p>
        </p:txBody>
      </p:sp>
    </p:spTree>
    <p:extLst>
      <p:ext uri="{BB962C8B-B14F-4D97-AF65-F5344CB8AC3E}">
        <p14:creationId xmlns:p14="http://schemas.microsoft.com/office/powerpoint/2010/main" val="21766695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5BFEB1-C5B6-497F-9C47-484BBB7969ED}" type="datetimeFigureOut">
              <a:rPr lang="en-US" smtClean="0"/>
              <a:t>5/10/2024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6B4BEF-56CF-4D39-98C0-595B4BAB880F}" type="slidenum">
              <a:rPr lang="en-US" smtClean="0"/>
              <a:t>‹#›</a:t>
            </a:fld>
            <a:endParaRPr lang="en-US"/>
          </a:p>
        </p:txBody>
      </p:sp>
    </p:spTree>
    <p:extLst>
      <p:ext uri="{BB962C8B-B14F-4D97-AF65-F5344CB8AC3E}">
        <p14:creationId xmlns:p14="http://schemas.microsoft.com/office/powerpoint/2010/main" val="29242316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5BFEB1-C5B6-497F-9C47-484BBB7969ED}" type="datetimeFigureOut">
              <a:rPr lang="en-US" smtClean="0"/>
              <a:t>5/10/2024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6B4BEF-56CF-4D39-98C0-595B4BAB880F}" type="slidenum">
              <a:rPr lang="en-US" smtClean="0"/>
              <a:t>‹#›</a:t>
            </a:fld>
            <a:endParaRPr lang="en-US"/>
          </a:p>
        </p:txBody>
      </p:sp>
    </p:spTree>
    <p:extLst>
      <p:ext uri="{BB962C8B-B14F-4D97-AF65-F5344CB8AC3E}">
        <p14:creationId xmlns:p14="http://schemas.microsoft.com/office/powerpoint/2010/main" val="2297415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cstate="email">
            <a:alphaModFix amt="30000"/>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45BFEB1-C5B6-497F-9C47-484BBB7969ED}" type="datetimeFigureOut">
              <a:rPr lang="en-US" smtClean="0"/>
              <a:t>5/10/2024</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B6B4BEF-56CF-4D39-98C0-595B4BAB880F}" type="slidenum">
              <a:rPr lang="en-US" smtClean="0"/>
              <a:t>‹#›</a:t>
            </a:fld>
            <a:endParaRPr lang="en-US"/>
          </a:p>
        </p:txBody>
      </p:sp>
    </p:spTree>
    <p:extLst>
      <p:ext uri="{BB962C8B-B14F-4D97-AF65-F5344CB8AC3E}">
        <p14:creationId xmlns:p14="http://schemas.microsoft.com/office/powerpoint/2010/main" val="2263401519"/>
      </p:ext>
    </p:extLst>
  </p:cSld>
  <p:clrMap bg1="dk1" tx1="lt1" bg2="dk2" tx2="lt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 id="214748376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95524" y="1579539"/>
            <a:ext cx="8883015" cy="4206239"/>
          </a:xfrm>
        </p:spPr>
        <p:txBody>
          <a:bodyPr>
            <a:normAutofit/>
          </a:bodyPr>
          <a:lstStyle/>
          <a:p>
            <a:pPr marL="0" marR="0" lvl="0" indent="0" algn="ctr" rtl="0">
              <a:lnSpc>
                <a:spcPct val="100000"/>
              </a:lnSpc>
              <a:spcBef>
                <a:spcPts val="0"/>
              </a:spcBef>
              <a:spcAft>
                <a:spcPts val="0"/>
              </a:spcAft>
              <a:buClr>
                <a:schemeClr val="dk1"/>
              </a:buClr>
              <a:buSzPts val="1100"/>
              <a:buFont typeface="Arial"/>
              <a:buNone/>
            </a:pPr>
            <a:r>
              <a:rPr lang="en-US" sz="3200" b="1" i="0" u="none" strike="noStrike" cap="none" dirty="0">
                <a:solidFill>
                  <a:srgbClr val="000000"/>
                </a:solidFill>
                <a:latin typeface="Lato"/>
                <a:ea typeface="Lato"/>
                <a:cs typeface="Lato"/>
                <a:sym typeface="Lato"/>
              </a:rPr>
              <a:t>Analytical CRM Development for a Bank</a:t>
            </a:r>
            <a:endParaRPr lang="en-US" sz="3200" b="1" i="0" u="none" strike="noStrike" cap="none" dirty="0">
              <a:solidFill>
                <a:schemeClr val="dk1"/>
              </a:solidFill>
              <a:latin typeface="Lato"/>
              <a:ea typeface="Lato"/>
              <a:cs typeface="Lato"/>
              <a:sym typeface="Lato"/>
            </a:endParaRPr>
          </a:p>
        </p:txBody>
      </p:sp>
      <p:sp>
        <p:nvSpPr>
          <p:cNvPr id="4" name="TextBox 3"/>
          <p:cNvSpPr txBox="1"/>
          <p:nvPr/>
        </p:nvSpPr>
        <p:spPr>
          <a:xfrm>
            <a:off x="2706977" y="4462339"/>
            <a:ext cx="6087399" cy="1569660"/>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Name :  </a:t>
            </a:r>
            <a:r>
              <a:rPr lang="en-US" sz="2400" b="1" dirty="0" err="1">
                <a:solidFill>
                  <a:schemeClr val="bg1"/>
                </a:solidFill>
                <a:latin typeface="Times New Roman" panose="02020603050405020304" pitchFamily="18" charset="0"/>
                <a:cs typeface="Times New Roman" panose="02020603050405020304" pitchFamily="18" charset="0"/>
              </a:rPr>
              <a:t>Manoj</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Pandit</a:t>
            </a:r>
            <a:endParaRPr lang="en-US" sz="2400" b="1"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Course : Data analytics (SQL Project)</a:t>
            </a:r>
          </a:p>
          <a:p>
            <a:r>
              <a:rPr lang="en-US" sz="2400" b="1" dirty="0">
                <a:solidFill>
                  <a:schemeClr val="bg1"/>
                </a:solidFill>
                <a:latin typeface="Times New Roman" panose="02020603050405020304" pitchFamily="18" charset="0"/>
                <a:cs typeface="Times New Roman" panose="02020603050405020304" pitchFamily="18" charset="0"/>
              </a:rPr>
              <a:t>Batch :   December 2023</a:t>
            </a:r>
          </a:p>
          <a:p>
            <a:r>
              <a:rPr lang="en-US" sz="2400" b="1" dirty="0">
                <a:solidFill>
                  <a:schemeClr val="bg1"/>
                </a:solidFill>
                <a:latin typeface="Times New Roman" panose="02020603050405020304" pitchFamily="18" charset="0"/>
                <a:cs typeface="Times New Roman" panose="02020603050405020304" pitchFamily="18" charset="0"/>
              </a:rPr>
              <a:t>Date :    10-05-2024</a:t>
            </a:r>
          </a:p>
        </p:txBody>
      </p:sp>
    </p:spTree>
    <p:extLst>
      <p:ext uri="{BB962C8B-B14F-4D97-AF65-F5344CB8AC3E}">
        <p14:creationId xmlns:p14="http://schemas.microsoft.com/office/powerpoint/2010/main" val="1775792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92C8D-6816-4B2F-B5BA-AB6BB0B95CC1}"/>
              </a:ext>
            </a:extLst>
          </p:cNvPr>
          <p:cNvSpPr>
            <a:spLocks noGrp="1"/>
          </p:cNvSpPr>
          <p:nvPr>
            <p:ph type="title"/>
          </p:nvPr>
        </p:nvSpPr>
        <p:spPr>
          <a:xfrm>
            <a:off x="1155826" y="439453"/>
            <a:ext cx="9880348" cy="606994"/>
          </a:xfrm>
        </p:spPr>
        <p:txBody>
          <a:bodyPr>
            <a:normAutofit/>
          </a:bodyPr>
          <a:lstStyle/>
          <a:p>
            <a:pPr algn="ctr"/>
            <a:r>
              <a:rPr lang="en-IN" sz="2800" b="1" dirty="0">
                <a:solidFill>
                  <a:schemeClr val="bg1"/>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2263688B-FFAE-4218-A3FA-B41706F74E33}"/>
              </a:ext>
            </a:extLst>
          </p:cNvPr>
          <p:cNvSpPr>
            <a:spLocks noGrp="1"/>
          </p:cNvSpPr>
          <p:nvPr>
            <p:ph idx="1"/>
          </p:nvPr>
        </p:nvSpPr>
        <p:spPr>
          <a:xfrm>
            <a:off x="1155826" y="1474470"/>
            <a:ext cx="9880348" cy="4389120"/>
          </a:xfrm>
        </p:spPr>
        <p:txBody>
          <a:bodyPr>
            <a:normAutofit/>
          </a:bodyPr>
          <a:lstStyle/>
          <a:p>
            <a:pPr marL="0" indent="0" algn="just">
              <a:buNone/>
            </a:pPr>
            <a:r>
              <a:rPr lang="en-US" sz="2000" b="1" i="0" dirty="0">
                <a:solidFill>
                  <a:schemeClr val="bg1"/>
                </a:solidFill>
                <a:effectLst/>
                <a:latin typeface="Times New Roman" panose="02020603050405020304" pitchFamily="18" charset="0"/>
                <a:cs typeface="Times New Roman" panose="02020603050405020304" pitchFamily="18" charset="0"/>
              </a:rPr>
              <a:t>Enhancing Customer Relationship Management (CRM) with Data Analytics</a:t>
            </a:r>
          </a:p>
          <a:p>
            <a:pPr lvl="1" algn="just"/>
            <a:r>
              <a:rPr lang="en-US" b="0" i="0" dirty="0">
                <a:solidFill>
                  <a:schemeClr val="bg1"/>
                </a:solidFill>
                <a:effectLst/>
                <a:latin typeface="Times New Roman" panose="02020603050405020304" pitchFamily="18" charset="0"/>
                <a:cs typeface="Times New Roman" panose="02020603050405020304" pitchFamily="18" charset="0"/>
              </a:rPr>
              <a:t>Welcome to our Bank CRM project! Our main goal is to make our bank better at taking care of our customers. </a:t>
            </a:r>
          </a:p>
          <a:p>
            <a:pPr lvl="1" algn="just"/>
            <a:r>
              <a:rPr lang="en-US" b="0" i="0" dirty="0">
                <a:solidFill>
                  <a:schemeClr val="bg1"/>
                </a:solidFill>
                <a:effectLst/>
                <a:latin typeface="Times New Roman" panose="02020603050405020304" pitchFamily="18" charset="0"/>
                <a:cs typeface="Times New Roman" panose="02020603050405020304" pitchFamily="18" charset="0"/>
              </a:rPr>
              <a:t>We have lots of information about our customers like their </a:t>
            </a:r>
            <a:r>
              <a:rPr lang="en-US" dirty="0">
                <a:solidFill>
                  <a:schemeClr val="bg1"/>
                </a:solidFill>
                <a:latin typeface="Times New Roman" panose="02020603050405020304" pitchFamily="18" charset="0"/>
                <a:cs typeface="Times New Roman" panose="02020603050405020304" pitchFamily="18" charset="0"/>
              </a:rPr>
              <a:t>credit score, geographical location, gender, age, tenure, account balance, product usage, credit card ownership, membership status, estimated salary, and exit status. </a:t>
            </a:r>
          </a:p>
          <a:p>
            <a:pPr lvl="1" algn="just"/>
            <a:r>
              <a:rPr lang="en-US" dirty="0">
                <a:solidFill>
                  <a:schemeClr val="bg1"/>
                </a:solidFill>
                <a:latin typeface="Times New Roman" panose="02020603050405020304" pitchFamily="18" charset="0"/>
                <a:cs typeface="Times New Roman" panose="02020603050405020304" pitchFamily="18" charset="0"/>
              </a:rPr>
              <a:t>Understanding the interplay between these factors will enable us to identify patterns, trends, and correlations that can inform strategic decision-making. </a:t>
            </a:r>
          </a:p>
          <a:p>
            <a:pPr lvl="1" algn="just"/>
            <a:r>
              <a:rPr lang="en-US" b="0" i="0" dirty="0">
                <a:solidFill>
                  <a:schemeClr val="bg1"/>
                </a:solidFill>
                <a:effectLst/>
                <a:latin typeface="Times New Roman" panose="02020603050405020304" pitchFamily="18" charset="0"/>
                <a:cs typeface="Times New Roman" panose="02020603050405020304" pitchFamily="18" charset="0"/>
              </a:rPr>
              <a:t>We want to use all this information to figure out how to keep our customers happy and stop them from leaving.</a:t>
            </a:r>
          </a:p>
          <a:p>
            <a:pPr algn="just"/>
            <a:endParaRPr lang="en-US"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0224716"/>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E141A4-2BB1-4D6C-948E-3022F6641EFC}"/>
              </a:ext>
            </a:extLst>
          </p:cNvPr>
          <p:cNvSpPr>
            <a:spLocks noGrp="1"/>
          </p:cNvSpPr>
          <p:nvPr>
            <p:ph idx="1"/>
          </p:nvPr>
        </p:nvSpPr>
        <p:spPr>
          <a:xfrm>
            <a:off x="1143794" y="1120140"/>
            <a:ext cx="9904411" cy="4103370"/>
          </a:xfrm>
        </p:spPr>
        <p:txBody>
          <a:bodyPr>
            <a:normAutofit/>
          </a:bodyPr>
          <a:lstStyle/>
          <a:p>
            <a:pPr marL="0" indent="0">
              <a:buNone/>
            </a:pPr>
            <a:r>
              <a:rPr lang="en-US" sz="2000" b="1" dirty="0">
                <a:solidFill>
                  <a:schemeClr val="bg1"/>
                </a:solidFill>
                <a:latin typeface="Times New Roman" panose="02020603050405020304" pitchFamily="18" charset="0"/>
                <a:cs typeface="Times New Roman" panose="02020603050405020304" pitchFamily="18" charset="0"/>
              </a:rPr>
              <a:t>Objective:</a:t>
            </a:r>
          </a:p>
          <a:p>
            <a:pPr marL="0" indent="0">
              <a:buNone/>
            </a:pPr>
            <a:endParaRPr lang="en-US" sz="2000" b="1" dirty="0">
              <a:solidFill>
                <a:schemeClr val="bg1"/>
              </a:solidFill>
              <a:latin typeface="Times New Roman" panose="02020603050405020304" pitchFamily="18" charset="0"/>
              <a:cs typeface="Times New Roman" panose="02020603050405020304" pitchFamily="18" charset="0"/>
            </a:endParaRPr>
          </a:p>
          <a:p>
            <a:pPr lvl="1"/>
            <a:r>
              <a:rPr lang="en-US" dirty="0">
                <a:solidFill>
                  <a:schemeClr val="bg1"/>
                </a:solidFill>
                <a:latin typeface="Times New Roman" panose="02020603050405020304" pitchFamily="18" charset="0"/>
                <a:cs typeface="Times New Roman" panose="02020603050405020304" pitchFamily="18" charset="0"/>
              </a:rPr>
              <a:t>To reduce customer churn, improve service delivery, and enhance overall customer satisfaction</a:t>
            </a:r>
            <a:endParaRPr lang="en-US" b="0" i="0" dirty="0">
              <a:solidFill>
                <a:schemeClr val="bg1"/>
              </a:solidFill>
              <a:effectLst/>
              <a:latin typeface="Times New Roman" panose="02020603050405020304" pitchFamily="18" charset="0"/>
              <a:cs typeface="Times New Roman" panose="02020603050405020304" pitchFamily="18" charset="0"/>
            </a:endParaRPr>
          </a:p>
          <a:p>
            <a:pPr lvl="1"/>
            <a:r>
              <a:rPr lang="en-US" b="0" i="0" dirty="0">
                <a:solidFill>
                  <a:schemeClr val="bg1"/>
                </a:solidFill>
                <a:effectLst/>
                <a:latin typeface="Times New Roman" panose="02020603050405020304" pitchFamily="18" charset="0"/>
                <a:cs typeface="Times New Roman" panose="02020603050405020304" pitchFamily="18" charset="0"/>
              </a:rPr>
              <a:t>Reduce Customer Churn: Identify high-risk customer segments and develop targeted strategies to reduce the rate at which customers leave the bank.</a:t>
            </a:r>
          </a:p>
          <a:p>
            <a:pPr lvl="1"/>
            <a:r>
              <a:rPr lang="en-US" b="0" i="0" dirty="0">
                <a:solidFill>
                  <a:schemeClr val="bg1"/>
                </a:solidFill>
                <a:effectLst/>
                <a:latin typeface="Times New Roman" panose="02020603050405020304" pitchFamily="18" charset="0"/>
                <a:cs typeface="Times New Roman" panose="02020603050405020304" pitchFamily="18" charset="0"/>
              </a:rPr>
              <a:t>We can collect feedback from customers, to see how happy they are with the bank and resolve customer issue as soon as.</a:t>
            </a:r>
          </a:p>
          <a:p>
            <a:endParaRPr lang="en-US" sz="2000" b="0" i="0" dirty="0">
              <a:solidFill>
                <a:schemeClr val="bg1"/>
              </a:solidFill>
              <a:effectLst/>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9495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04B1A7-742D-40E4-A843-D4966AB54FAD}"/>
              </a:ext>
            </a:extLst>
          </p:cNvPr>
          <p:cNvSpPr>
            <a:spLocks noGrp="1"/>
          </p:cNvSpPr>
          <p:nvPr>
            <p:ph idx="1"/>
          </p:nvPr>
        </p:nvSpPr>
        <p:spPr>
          <a:xfrm>
            <a:off x="1976717" y="1035424"/>
            <a:ext cx="8659907" cy="4141694"/>
          </a:xfrm>
        </p:spPr>
        <p:txBody>
          <a:bodyPr>
            <a:normAutofit/>
          </a:bodyPr>
          <a:lstStyle/>
          <a:p>
            <a:endParaRPr lang="en-US" sz="2000" dirty="0">
              <a:solidFill>
                <a:schemeClr val="bg1"/>
              </a:solidFill>
              <a:latin typeface="Times New Roman" panose="02020603050405020304" pitchFamily="18" charset="0"/>
              <a:cs typeface="Times New Roman" panose="02020603050405020304" pitchFamily="18" charset="0"/>
            </a:endParaRPr>
          </a:p>
          <a:p>
            <a:pPr marL="0" indent="0">
              <a:buNone/>
            </a:pPr>
            <a:r>
              <a:rPr lang="en-US" sz="2000" b="1" dirty="0">
                <a:solidFill>
                  <a:schemeClr val="bg1"/>
                </a:solidFill>
                <a:latin typeface="Times New Roman" panose="02020603050405020304" pitchFamily="18" charset="0"/>
                <a:cs typeface="Times New Roman" panose="02020603050405020304" pitchFamily="18" charset="0"/>
              </a:rPr>
              <a:t>Goals of the Project</a:t>
            </a:r>
          </a:p>
          <a:p>
            <a:pPr marL="0" indent="0">
              <a:buNone/>
            </a:pPr>
            <a:endParaRPr lang="en-US" sz="2000" b="1" dirty="0">
              <a:solidFill>
                <a:schemeClr val="bg1"/>
              </a:solidFill>
              <a:latin typeface="Times New Roman" panose="02020603050405020304" pitchFamily="18" charset="0"/>
              <a:cs typeface="Times New Roman" panose="02020603050405020304" pitchFamily="18" charset="0"/>
            </a:endParaRPr>
          </a:p>
          <a:p>
            <a:pPr lvl="1"/>
            <a:r>
              <a:rPr lang="en-US" dirty="0">
                <a:solidFill>
                  <a:schemeClr val="bg1"/>
                </a:solidFill>
                <a:latin typeface="Times New Roman" panose="02020603050405020304" pitchFamily="18" charset="0"/>
                <a:cs typeface="Times New Roman" panose="02020603050405020304" pitchFamily="18" charset="0"/>
              </a:rPr>
              <a:t>Identify High-Risk Customer Segments </a:t>
            </a:r>
          </a:p>
          <a:p>
            <a:pPr lvl="1"/>
            <a:r>
              <a:rPr lang="en-US" dirty="0">
                <a:solidFill>
                  <a:schemeClr val="bg1"/>
                </a:solidFill>
                <a:latin typeface="Times New Roman" panose="02020603050405020304" pitchFamily="18" charset="0"/>
                <a:cs typeface="Times New Roman" panose="02020603050405020304" pitchFamily="18" charset="0"/>
              </a:rPr>
              <a:t>Assess Effectiveness of Retention Strategies</a:t>
            </a:r>
          </a:p>
          <a:p>
            <a:pPr lvl="1"/>
            <a:r>
              <a:rPr lang="en-US" dirty="0">
                <a:solidFill>
                  <a:schemeClr val="bg1"/>
                </a:solidFill>
                <a:latin typeface="Times New Roman" panose="02020603050405020304" pitchFamily="18" charset="0"/>
                <a:cs typeface="Times New Roman" panose="02020603050405020304" pitchFamily="18" charset="0"/>
              </a:rPr>
              <a:t>Optimize Cross-Selling Opportunities Based on Product Affinity</a:t>
            </a:r>
          </a:p>
          <a:p>
            <a:pPr lvl="1"/>
            <a:r>
              <a:rPr lang="en-US" dirty="0">
                <a:solidFill>
                  <a:schemeClr val="bg1"/>
                </a:solidFill>
                <a:latin typeface="Times New Roman" panose="02020603050405020304" pitchFamily="18" charset="0"/>
                <a:cs typeface="Times New Roman" panose="02020603050405020304" pitchFamily="18" charset="0"/>
              </a:rPr>
              <a:t>Evaluate Impact of Customer Demographics on Service Delivery</a:t>
            </a:r>
          </a:p>
          <a:p>
            <a:pPr lvl="1"/>
            <a:r>
              <a:rPr lang="en-US" dirty="0">
                <a:solidFill>
                  <a:schemeClr val="bg1"/>
                </a:solidFill>
                <a:latin typeface="Times New Roman" panose="02020603050405020304" pitchFamily="18" charset="0"/>
                <a:cs typeface="Times New Roman" panose="02020603050405020304" pitchFamily="18" charset="0"/>
              </a:rPr>
              <a:t>Forecast Customer Tenure Value to Prioritize Retention Efforts</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516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3237" y="308610"/>
            <a:ext cx="9930062" cy="765810"/>
          </a:xfrm>
        </p:spPr>
        <p:txBody>
          <a:bodyPr>
            <a:normAutofit/>
          </a:bodyPr>
          <a:lstStyle/>
          <a:p>
            <a:pPr algn="ctr"/>
            <a:r>
              <a:rPr lang="en-US" sz="2800" b="1" dirty="0">
                <a:solidFill>
                  <a:schemeClr val="bg1">
                    <a:lumMod val="95000"/>
                    <a:lumOff val="5000"/>
                  </a:schemeClr>
                </a:solidFill>
                <a:latin typeface="Times New Roman" panose="02020603050405020304" pitchFamily="18" charset="0"/>
                <a:cs typeface="Times New Roman" panose="02020603050405020304" pitchFamily="18" charset="0"/>
              </a:rPr>
              <a:t>Data Cleaning &amp; Handling Missing values</a:t>
            </a:r>
          </a:p>
        </p:txBody>
      </p:sp>
      <p:sp>
        <p:nvSpPr>
          <p:cNvPr id="3" name="Content Placeholder 2"/>
          <p:cNvSpPr>
            <a:spLocks noGrp="1"/>
          </p:cNvSpPr>
          <p:nvPr>
            <p:ph idx="1"/>
          </p:nvPr>
        </p:nvSpPr>
        <p:spPr>
          <a:xfrm>
            <a:off x="1154430" y="1463040"/>
            <a:ext cx="9883140" cy="4754880"/>
          </a:xfrm>
        </p:spPr>
        <p:txBody>
          <a:bodyPr>
            <a:noAutofit/>
          </a:bodyPr>
          <a:lstStyle/>
          <a:p>
            <a:pPr marL="457200" lvl="1" indent="0">
              <a:buNone/>
            </a:pPr>
            <a:r>
              <a:rPr lang="en-US" sz="2200" b="1" dirty="0">
                <a:solidFill>
                  <a:schemeClr val="bg1">
                    <a:lumMod val="95000"/>
                    <a:lumOff val="5000"/>
                  </a:schemeClr>
                </a:solidFill>
                <a:latin typeface="Times New Roman" panose="02020603050405020304" pitchFamily="18" charset="0"/>
                <a:cs typeface="Times New Roman" panose="02020603050405020304" pitchFamily="18" charset="0"/>
              </a:rPr>
              <a:t>Data Validation: </a:t>
            </a:r>
          </a:p>
          <a:p>
            <a:pPr marL="914400" lvl="2" indent="0">
              <a:buNone/>
            </a:pPr>
            <a:r>
              <a:rPr lang="en-US" sz="2000" dirty="0">
                <a:solidFill>
                  <a:schemeClr val="bg1">
                    <a:lumMod val="95000"/>
                    <a:lumOff val="5000"/>
                  </a:schemeClr>
                </a:solidFill>
                <a:latin typeface="Times New Roman" panose="02020603050405020304" pitchFamily="18" charset="0"/>
                <a:cs typeface="Times New Roman" panose="02020603050405020304" pitchFamily="18" charset="0"/>
              </a:rPr>
              <a:t>Check if the data we collected is accurate and reliable by comparing it to trusted sources and doing quality checks.</a:t>
            </a:r>
          </a:p>
          <a:p>
            <a:pPr marL="457200" lvl="1" indent="0">
              <a:buNone/>
            </a:pPr>
            <a:r>
              <a:rPr lang="en-US" sz="2200" b="1" dirty="0">
                <a:solidFill>
                  <a:schemeClr val="bg1">
                    <a:lumMod val="95000"/>
                    <a:lumOff val="5000"/>
                  </a:schemeClr>
                </a:solidFill>
                <a:latin typeface="Times New Roman" panose="02020603050405020304" pitchFamily="18" charset="0"/>
                <a:cs typeface="Times New Roman" panose="02020603050405020304" pitchFamily="18" charset="0"/>
              </a:rPr>
              <a:t>Handling Missing Values:</a:t>
            </a:r>
          </a:p>
          <a:p>
            <a:pPr marL="914400" lvl="2" indent="0">
              <a:buNone/>
            </a:pPr>
            <a:r>
              <a:rPr lang="en-US" sz="2000" dirty="0">
                <a:solidFill>
                  <a:schemeClr val="bg1">
                    <a:lumMod val="95000"/>
                    <a:lumOff val="5000"/>
                  </a:schemeClr>
                </a:solidFill>
                <a:latin typeface="Times New Roman" panose="02020603050405020304" pitchFamily="18" charset="0"/>
                <a:cs typeface="Times New Roman" panose="02020603050405020304" pitchFamily="18" charset="0"/>
              </a:rPr>
              <a:t>Fix any missing or incomplete data</a:t>
            </a:r>
          </a:p>
          <a:p>
            <a:pPr marL="1257300" lvl="2" indent="-342900" algn="just">
              <a:lnSpc>
                <a:spcPct val="115000"/>
              </a:lnSpc>
              <a:buFont typeface="Symbol" panose="05050102010706020507" pitchFamily="18" charset="2"/>
              <a:buChar char=""/>
            </a:pPr>
            <a:r>
              <a:rPr lang="en-GB" sz="2000" dirty="0">
                <a:solidFill>
                  <a:schemeClr val="bg1"/>
                </a:solidFill>
                <a:effectLst/>
                <a:latin typeface="Times New Roman" panose="02020603050405020304" pitchFamily="18" charset="0"/>
                <a:ea typeface="Lato" panose="020F0502020204030203" pitchFamily="34" charset="0"/>
                <a:cs typeface="Times New Roman" panose="02020603050405020304" pitchFamily="18" charset="0"/>
              </a:rPr>
              <a:t>Identify missing values in your dataset by looking for blank cells</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pPr marL="1257300" lvl="2" indent="-342900" algn="just">
              <a:lnSpc>
                <a:spcPct val="115000"/>
              </a:lnSpc>
              <a:buFont typeface="Symbol" panose="05050102010706020507" pitchFamily="18" charset="2"/>
              <a:buChar char=""/>
            </a:pPr>
            <a:r>
              <a:rPr lang="en-GB" sz="2000" dirty="0">
                <a:solidFill>
                  <a:schemeClr val="bg1"/>
                </a:solidFill>
                <a:effectLst/>
                <a:latin typeface="Times New Roman" panose="02020603050405020304" pitchFamily="18" charset="0"/>
                <a:ea typeface="Lato" panose="020F0502020204030203" pitchFamily="34" charset="0"/>
                <a:cs typeface="Times New Roman" panose="02020603050405020304" pitchFamily="18" charset="0"/>
              </a:rPr>
              <a:t>Replace missing values using Excel functions like IF, ISBLANK</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pPr marL="1257300" lvl="2" indent="-342900" algn="just">
              <a:lnSpc>
                <a:spcPct val="115000"/>
              </a:lnSpc>
              <a:buFont typeface="Symbol" panose="05050102010706020507" pitchFamily="18" charset="2"/>
              <a:buChar char=""/>
            </a:pPr>
            <a:r>
              <a:rPr lang="en-GB" sz="2000" dirty="0">
                <a:solidFill>
                  <a:schemeClr val="bg1"/>
                </a:solidFill>
                <a:effectLst/>
                <a:latin typeface="Times New Roman" panose="02020603050405020304" pitchFamily="18" charset="0"/>
                <a:ea typeface="Lato" panose="020F0502020204030203" pitchFamily="34" charset="0"/>
                <a:cs typeface="Times New Roman" panose="02020603050405020304" pitchFamily="18" charset="0"/>
              </a:rPr>
              <a:t>Replace missing values with a specific value (e.g., 0 or "Unknown")  </a:t>
            </a:r>
            <a:endParaRPr lang="en-US" sz="2800" dirty="0">
              <a:solidFill>
                <a:schemeClr val="bg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709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B47A7D-3B23-44A2-91CF-A5A18C1139BD}"/>
              </a:ext>
            </a:extLst>
          </p:cNvPr>
          <p:cNvSpPr>
            <a:spLocks noGrp="1"/>
          </p:cNvSpPr>
          <p:nvPr>
            <p:ph idx="1"/>
          </p:nvPr>
        </p:nvSpPr>
        <p:spPr>
          <a:xfrm>
            <a:off x="1101684" y="935756"/>
            <a:ext cx="9988632" cy="4986488"/>
          </a:xfrm>
        </p:spPr>
        <p:txBody>
          <a:bodyPr>
            <a:normAutofit lnSpcReduction="10000"/>
          </a:bodyPr>
          <a:lstStyle/>
          <a:p>
            <a:pPr marL="457200" lvl="1" indent="0">
              <a:buNone/>
            </a:pPr>
            <a:r>
              <a:rPr lang="en-US" b="1" dirty="0">
                <a:solidFill>
                  <a:schemeClr val="bg1">
                    <a:lumMod val="95000"/>
                    <a:lumOff val="5000"/>
                  </a:schemeClr>
                </a:solidFill>
                <a:latin typeface="Times New Roman" panose="02020603050405020304" pitchFamily="18" charset="0"/>
                <a:cs typeface="Times New Roman" panose="02020603050405020304" pitchFamily="18" charset="0"/>
              </a:rPr>
              <a:t>Removing Duplicates:</a:t>
            </a:r>
          </a:p>
          <a:p>
            <a:pPr marL="914400" lvl="2" indent="0">
              <a:buNone/>
            </a:pPr>
            <a:r>
              <a:rPr lang="en-US" sz="2000" dirty="0">
                <a:solidFill>
                  <a:schemeClr val="bg1">
                    <a:lumMod val="95000"/>
                    <a:lumOff val="5000"/>
                  </a:schemeClr>
                </a:solidFill>
                <a:latin typeface="Times New Roman" panose="02020603050405020304" pitchFamily="18" charset="0"/>
                <a:cs typeface="Times New Roman" panose="02020603050405020304" pitchFamily="18" charset="0"/>
              </a:rPr>
              <a:t>Check any repeated data entries available in datasets so our analysis isn't messed up by having the same thing multiple times.</a:t>
            </a:r>
            <a:endParaRPr lang="en-US" sz="2200" b="1" dirty="0">
              <a:solidFill>
                <a:schemeClr val="bg1">
                  <a:lumMod val="95000"/>
                  <a:lumOff val="5000"/>
                </a:schemeClr>
              </a:solidFill>
              <a:latin typeface="Times New Roman" panose="02020603050405020304" pitchFamily="18" charset="0"/>
              <a:cs typeface="Times New Roman" panose="02020603050405020304" pitchFamily="18" charset="0"/>
            </a:endParaRPr>
          </a:p>
          <a:p>
            <a:pPr marL="457200" lvl="1" indent="0">
              <a:buNone/>
            </a:pPr>
            <a:r>
              <a:rPr lang="en-US" sz="2200" b="1" dirty="0">
                <a:solidFill>
                  <a:schemeClr val="bg1">
                    <a:lumMod val="95000"/>
                    <a:lumOff val="5000"/>
                  </a:schemeClr>
                </a:solidFill>
                <a:latin typeface="Times New Roman" panose="02020603050405020304" pitchFamily="18" charset="0"/>
                <a:cs typeface="Times New Roman" panose="02020603050405020304" pitchFamily="18" charset="0"/>
              </a:rPr>
              <a:t>Standardization:</a:t>
            </a:r>
          </a:p>
          <a:p>
            <a:pPr marL="914400" lvl="2" indent="0">
              <a:buNone/>
            </a:pPr>
            <a:r>
              <a:rPr lang="en-US" sz="2000" dirty="0">
                <a:solidFill>
                  <a:schemeClr val="bg1">
                    <a:lumMod val="95000"/>
                    <a:lumOff val="5000"/>
                  </a:schemeClr>
                </a:solidFill>
                <a:latin typeface="Times New Roman" panose="02020603050405020304" pitchFamily="18" charset="0"/>
                <a:cs typeface="Times New Roman" panose="02020603050405020304" pitchFamily="18" charset="0"/>
              </a:rPr>
              <a:t>Make sure all the data looks the same by using the same formats, units, and names. This helps us compare different sets of data easily.</a:t>
            </a:r>
          </a:p>
          <a:p>
            <a:pPr marL="457200" lvl="1" indent="0">
              <a:buNone/>
            </a:pPr>
            <a:r>
              <a:rPr lang="en-US" sz="2200" b="1" dirty="0">
                <a:solidFill>
                  <a:schemeClr val="bg1">
                    <a:lumMod val="95000"/>
                    <a:lumOff val="5000"/>
                  </a:schemeClr>
                </a:solidFill>
                <a:latin typeface="Times New Roman" panose="02020603050405020304" pitchFamily="18" charset="0"/>
                <a:cs typeface="Times New Roman" panose="02020603050405020304" pitchFamily="18" charset="0"/>
              </a:rPr>
              <a:t>Data Transformation:</a:t>
            </a:r>
          </a:p>
          <a:p>
            <a:pPr lvl="2">
              <a:buFont typeface="Wingdings" panose="05000000000000000000" pitchFamily="2" charset="2"/>
              <a:buChar char="§"/>
            </a:pPr>
            <a:r>
              <a:rPr lang="en-US" sz="2000" dirty="0">
                <a:solidFill>
                  <a:schemeClr val="bg1"/>
                </a:solidFill>
                <a:latin typeface="Times New Roman" panose="02020603050405020304" pitchFamily="18" charset="0"/>
                <a:cs typeface="Times New Roman" panose="02020603050405020304" pitchFamily="18" charset="0"/>
              </a:rPr>
              <a:t>Segment customers based on their demographic like </a:t>
            </a:r>
            <a:r>
              <a:rPr lang="en-US" sz="2000" dirty="0" err="1">
                <a:solidFill>
                  <a:schemeClr val="bg1"/>
                </a:solidFill>
                <a:latin typeface="Times New Roman" panose="02020603050405020304" pitchFamily="18" charset="0"/>
                <a:cs typeface="Times New Roman" panose="02020603050405020304" pitchFamily="18" charset="0"/>
              </a:rPr>
              <a:t>age_group</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creditscore</a:t>
            </a:r>
            <a:r>
              <a:rPr lang="en-US" sz="2000" dirty="0">
                <a:solidFill>
                  <a:schemeClr val="bg1"/>
                </a:solidFill>
                <a:latin typeface="Times New Roman" panose="02020603050405020304" pitchFamily="18" charset="0"/>
                <a:cs typeface="Times New Roman" panose="02020603050405020304" pitchFamily="18" charset="0"/>
              </a:rPr>
              <a:t>.</a:t>
            </a:r>
          </a:p>
          <a:p>
            <a:pPr lvl="2">
              <a:buFont typeface="Wingdings" panose="05000000000000000000" pitchFamily="2" charset="2"/>
              <a:buChar char="§"/>
            </a:pPr>
            <a:r>
              <a:rPr lang="en-US" sz="2000" dirty="0">
                <a:solidFill>
                  <a:schemeClr val="bg1"/>
                </a:solidFill>
                <a:latin typeface="Times New Roman" panose="02020603050405020304" pitchFamily="18" charset="0"/>
                <a:cs typeface="Times New Roman" panose="02020603050405020304" pitchFamily="18" charset="0"/>
              </a:rPr>
              <a:t>Normalize numerical variables like Balance, </a:t>
            </a:r>
            <a:r>
              <a:rPr lang="en-US" sz="2000" dirty="0" err="1">
                <a:solidFill>
                  <a:schemeClr val="bg1"/>
                </a:solidFill>
                <a:latin typeface="Times New Roman" panose="02020603050405020304" pitchFamily="18" charset="0"/>
                <a:cs typeface="Times New Roman" panose="02020603050405020304" pitchFamily="18" charset="0"/>
              </a:rPr>
              <a:t>NumOfProducts</a:t>
            </a:r>
            <a:r>
              <a:rPr lang="en-US" sz="2000" dirty="0">
                <a:solidFill>
                  <a:schemeClr val="bg1"/>
                </a:solidFill>
                <a:latin typeface="Times New Roman" panose="02020603050405020304" pitchFamily="18" charset="0"/>
                <a:cs typeface="Times New Roman" panose="02020603050405020304" pitchFamily="18" charset="0"/>
              </a:rPr>
              <a:t>, Estimated Salary, and </a:t>
            </a:r>
            <a:r>
              <a:rPr lang="en-US" sz="2000" dirty="0" err="1">
                <a:solidFill>
                  <a:schemeClr val="bg1"/>
                </a:solidFill>
                <a:latin typeface="Times New Roman" panose="02020603050405020304" pitchFamily="18" charset="0"/>
                <a:cs typeface="Times New Roman" panose="02020603050405020304" pitchFamily="18" charset="0"/>
              </a:rPr>
              <a:t>CreditScore</a:t>
            </a:r>
            <a:r>
              <a:rPr lang="en-US" sz="2000" dirty="0">
                <a:solidFill>
                  <a:schemeClr val="bg1"/>
                </a:solidFill>
                <a:latin typeface="Times New Roman" panose="02020603050405020304" pitchFamily="18" charset="0"/>
                <a:cs typeface="Times New Roman" panose="02020603050405020304" pitchFamily="18" charset="0"/>
              </a:rPr>
              <a:t>. </a:t>
            </a:r>
          </a:p>
          <a:p>
            <a:pPr lvl="2">
              <a:buFont typeface="Wingdings" panose="05000000000000000000" pitchFamily="2" charset="2"/>
              <a:buChar char="§"/>
            </a:pPr>
            <a:r>
              <a:rPr lang="en-US" sz="2000" dirty="0">
                <a:solidFill>
                  <a:schemeClr val="bg1"/>
                </a:solidFill>
                <a:latin typeface="Times New Roman" panose="02020603050405020304" pitchFamily="18" charset="0"/>
                <a:cs typeface="Times New Roman" panose="02020603050405020304" pitchFamily="18" charset="0"/>
              </a:rPr>
              <a:t>Convert the numerical credit score values into categorical such as “Excellent”, “Very Good”, “Good”, “Fair”, and “Poor” based on the defined ranges.</a:t>
            </a:r>
            <a:endParaRPr lang="en-IN" sz="2000" dirty="0">
              <a:solidFill>
                <a:schemeClr val="bg1"/>
              </a:solidFill>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0367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488144-96BA-44FB-9143-1460203C5F5D}"/>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D9FE4173-BDDB-4C79-BC88-25D37FA0BABA}"/>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 b="5812"/>
          <a:stretch/>
        </p:blipFill>
        <p:spPr>
          <a:xfrm>
            <a:off x="0" y="-34289"/>
            <a:ext cx="12192000" cy="6892289"/>
          </a:xfrm>
          <a:prstGeom prst="rect">
            <a:avLst/>
          </a:prstGeom>
        </p:spPr>
      </p:pic>
    </p:spTree>
    <p:extLst>
      <p:ext uri="{BB962C8B-B14F-4D97-AF65-F5344CB8AC3E}">
        <p14:creationId xmlns:p14="http://schemas.microsoft.com/office/powerpoint/2010/main" val="3154707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C6484E1-69FB-485B-9A7E-933A482F55F7}"/>
              </a:ext>
            </a:extLst>
          </p:cNvPr>
          <p:cNvSpPr txBox="1">
            <a:spLocks/>
          </p:cNvSpPr>
          <p:nvPr/>
        </p:nvSpPr>
        <p:spPr>
          <a:xfrm>
            <a:off x="1141412" y="-21526"/>
            <a:ext cx="9905998" cy="807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IN" sz="2800" b="1" dirty="0" err="1">
                <a:solidFill>
                  <a:schemeClr val="bg1"/>
                </a:solidFill>
                <a:latin typeface="Times New Roman" panose="02020603050405020304" pitchFamily="18" charset="0"/>
                <a:cs typeface="Times New Roman" panose="02020603050405020304" pitchFamily="18" charset="0"/>
              </a:rPr>
              <a:t>Analyze</a:t>
            </a:r>
            <a:r>
              <a:rPr lang="en-IN" sz="2800" b="1" dirty="0">
                <a:solidFill>
                  <a:schemeClr val="bg1"/>
                </a:solidFill>
                <a:latin typeface="Times New Roman" panose="02020603050405020304" pitchFamily="18" charset="0"/>
                <a:cs typeface="Times New Roman" panose="02020603050405020304" pitchFamily="18" charset="0"/>
              </a:rPr>
              <a:t> number of customer By region </a:t>
            </a:r>
            <a:endParaRPr lang="en-US" sz="2800" b="1"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581C92F8-FDA6-4F55-B3B6-B2BC35CD1F2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141412" y="1389237"/>
            <a:ext cx="3978988" cy="2049616"/>
          </a:xfrm>
          <a:prstGeom prst="rect">
            <a:avLst/>
          </a:prstGeom>
        </p:spPr>
      </p:pic>
      <p:pic>
        <p:nvPicPr>
          <p:cNvPr id="12" name="Picture 11">
            <a:extLst>
              <a:ext uri="{FF2B5EF4-FFF2-40B4-BE49-F238E27FC236}">
                <a16:creationId xmlns:a16="http://schemas.microsoft.com/office/drawing/2014/main" id="{7F9122BA-578C-4E5A-957C-F3BD4FA9BE2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664992" y="1361346"/>
            <a:ext cx="5102068" cy="2943238"/>
          </a:xfrm>
          <a:prstGeom prst="rect">
            <a:avLst/>
          </a:prstGeom>
        </p:spPr>
      </p:pic>
      <p:sp>
        <p:nvSpPr>
          <p:cNvPr id="13" name="Content Placeholder 2">
            <a:extLst>
              <a:ext uri="{FF2B5EF4-FFF2-40B4-BE49-F238E27FC236}">
                <a16:creationId xmlns:a16="http://schemas.microsoft.com/office/drawing/2014/main" id="{07273EA2-4679-4903-B5C2-FE5FC5A932B9}"/>
              </a:ext>
            </a:extLst>
          </p:cNvPr>
          <p:cNvSpPr txBox="1">
            <a:spLocks/>
          </p:cNvSpPr>
          <p:nvPr/>
        </p:nvSpPr>
        <p:spPr>
          <a:xfrm>
            <a:off x="5074441" y="851462"/>
            <a:ext cx="1880235" cy="5083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sz="2200" b="1" dirty="0">
                <a:solidFill>
                  <a:schemeClr val="bg1">
                    <a:lumMod val="95000"/>
                    <a:lumOff val="5000"/>
                  </a:schemeClr>
                </a:solidFill>
                <a:latin typeface="Times New Roman" panose="02020603050405020304" pitchFamily="18" charset="0"/>
                <a:cs typeface="Times New Roman" panose="02020603050405020304" pitchFamily="18" charset="0"/>
              </a:rPr>
              <a:t>Visuals:</a:t>
            </a:r>
            <a:endParaRPr lang="en-US" sz="2200" dirty="0">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14" name="Content Placeholder 2">
            <a:extLst>
              <a:ext uri="{FF2B5EF4-FFF2-40B4-BE49-F238E27FC236}">
                <a16:creationId xmlns:a16="http://schemas.microsoft.com/office/drawing/2014/main" id="{B84CB1E3-A236-4565-BAED-82F482AC7934}"/>
              </a:ext>
            </a:extLst>
          </p:cNvPr>
          <p:cNvSpPr txBox="1">
            <a:spLocks/>
          </p:cNvSpPr>
          <p:nvPr/>
        </p:nvSpPr>
        <p:spPr>
          <a:xfrm>
            <a:off x="5452110" y="4265768"/>
            <a:ext cx="5314950" cy="219369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endParaRPr lang="en-US" sz="2200" dirty="0">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33B5613E-56F9-4F44-84CF-F6B6B6E379C0}"/>
              </a:ext>
            </a:extLst>
          </p:cNvPr>
          <p:cNvSpPr txBox="1"/>
          <p:nvPr/>
        </p:nvSpPr>
        <p:spPr>
          <a:xfrm>
            <a:off x="1068782" y="3413081"/>
            <a:ext cx="4051618" cy="1015663"/>
          </a:xfrm>
          <a:prstGeom prst="rect">
            <a:avLst/>
          </a:prstGeom>
          <a:noFill/>
        </p:spPr>
        <p:txBody>
          <a:bodyPr wrap="square">
            <a:spAutoFit/>
          </a:bodyPr>
          <a:lstStyle/>
          <a:p>
            <a:r>
              <a:rPr lang="en-IN" sz="2000" dirty="0">
                <a:solidFill>
                  <a:schemeClr val="bg1"/>
                </a:solidFill>
                <a:latin typeface="Times New Roman" panose="02020603050405020304" pitchFamily="18" charset="0"/>
                <a:cs typeface="Times New Roman" panose="02020603050405020304" pitchFamily="18" charset="0"/>
              </a:rPr>
              <a:t>In this visualization, we focus on the distribution of customers across different regions.</a:t>
            </a:r>
          </a:p>
        </p:txBody>
      </p:sp>
      <p:sp>
        <p:nvSpPr>
          <p:cNvPr id="18" name="TextBox 17">
            <a:extLst>
              <a:ext uri="{FF2B5EF4-FFF2-40B4-BE49-F238E27FC236}">
                <a16:creationId xmlns:a16="http://schemas.microsoft.com/office/drawing/2014/main" id="{A56CC6B6-B578-49C2-9047-7D24C89B93AE}"/>
              </a:ext>
            </a:extLst>
          </p:cNvPr>
          <p:cNvSpPr txBox="1"/>
          <p:nvPr/>
        </p:nvSpPr>
        <p:spPr>
          <a:xfrm>
            <a:off x="1771650" y="4552904"/>
            <a:ext cx="8995410" cy="1938992"/>
          </a:xfrm>
          <a:prstGeom prst="rect">
            <a:avLst/>
          </a:prstGeom>
          <a:noFill/>
        </p:spPr>
        <p:txBody>
          <a:bodyPr wrap="square">
            <a:spAutoFit/>
          </a:bodyPr>
          <a:lstStyle/>
          <a:p>
            <a:r>
              <a:rPr lang="en-IN" sz="2000" dirty="0">
                <a:solidFill>
                  <a:schemeClr val="bg1"/>
                </a:solidFill>
                <a:latin typeface="Times New Roman" panose="02020603050405020304" pitchFamily="18" charset="0"/>
                <a:cs typeface="Times New Roman" panose="02020603050405020304" pitchFamily="18" charset="0"/>
              </a:rPr>
              <a:t>we see how many customers are in each region and how many of them left the bank. Our main goal is to figure out why customers leave and find those who might leave soon. We're looking for similar reasons why people leave the bank in different places. By understanding this, we can work on ways to keep customers happy and stop them from leaving. This picture helps us find out which areas have more people leaving the bank, so we can focus on helping those customers stay.</a:t>
            </a:r>
          </a:p>
        </p:txBody>
      </p:sp>
    </p:spTree>
    <p:extLst>
      <p:ext uri="{BB962C8B-B14F-4D97-AF65-F5344CB8AC3E}">
        <p14:creationId xmlns:p14="http://schemas.microsoft.com/office/powerpoint/2010/main" val="1028971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B3266-30BF-4E1D-AB65-DFB4F94FD7B4}"/>
              </a:ext>
            </a:extLst>
          </p:cNvPr>
          <p:cNvSpPr>
            <a:spLocks noGrp="1"/>
          </p:cNvSpPr>
          <p:nvPr>
            <p:ph type="title"/>
          </p:nvPr>
        </p:nvSpPr>
        <p:spPr>
          <a:xfrm>
            <a:off x="1137778" y="76846"/>
            <a:ext cx="9916443" cy="724124"/>
          </a:xfrm>
        </p:spPr>
        <p:txBody>
          <a:bodyPr>
            <a:normAutofit/>
          </a:bodyPr>
          <a:lstStyle/>
          <a:p>
            <a:pPr algn="ctr"/>
            <a:r>
              <a:rPr lang="en-IN" sz="2800" b="1" i="0" dirty="0">
                <a:solidFill>
                  <a:schemeClr val="bg1"/>
                </a:solidFill>
                <a:effectLst/>
                <a:latin typeface="Times New Roman" panose="02020603050405020304" pitchFamily="18" charset="0"/>
                <a:cs typeface="Times New Roman" panose="02020603050405020304" pitchFamily="18" charset="0"/>
              </a:rPr>
              <a:t>Overview of Customer Datasets</a:t>
            </a:r>
            <a:endParaRPr lang="en-IN" sz="2800" dirty="0">
              <a:solidFill>
                <a:schemeClr val="bg1"/>
              </a:solidFill>
              <a:latin typeface="Times New Roman" panose="02020603050405020304" pitchFamily="18" charset="0"/>
              <a:cs typeface="Times New Roman" panose="02020603050405020304" pitchFamily="18" charset="0"/>
            </a:endParaRPr>
          </a:p>
        </p:txBody>
      </p:sp>
      <p:sp>
        <p:nvSpPr>
          <p:cNvPr id="5" name="Google Shape;72;p4">
            <a:extLst>
              <a:ext uri="{FF2B5EF4-FFF2-40B4-BE49-F238E27FC236}">
                <a16:creationId xmlns:a16="http://schemas.microsoft.com/office/drawing/2014/main" id="{6A9247B6-A509-4AC7-BEE2-86739A480A8B}"/>
              </a:ext>
            </a:extLst>
          </p:cNvPr>
          <p:cNvSpPr txBox="1"/>
          <p:nvPr/>
        </p:nvSpPr>
        <p:spPr>
          <a:xfrm>
            <a:off x="968187" y="672353"/>
            <a:ext cx="10282679" cy="6161656"/>
          </a:xfrm>
          <a:prstGeom prst="rect">
            <a:avLst/>
          </a:prstGeom>
          <a:noFill/>
          <a:ln>
            <a:noFill/>
          </a:ln>
        </p:spPr>
        <p:txBody>
          <a:bodyPr spcFirstLastPara="1" wrap="square" lIns="91425" tIns="91425" rIns="91425" bIns="91425" anchor="t" anchorCtr="0">
            <a:spAutoFit/>
          </a:bodyPr>
          <a:lstStyle/>
          <a:p>
            <a:pPr marL="457200" marR="0" lvl="0" indent="-323850" algn="l" rtl="0">
              <a:lnSpc>
                <a:spcPct val="115000"/>
              </a:lnSpc>
              <a:spcBef>
                <a:spcPts val="0"/>
              </a:spcBef>
              <a:spcAft>
                <a:spcPts val="0"/>
              </a:spcAft>
              <a:buClr>
                <a:schemeClr val="dk1"/>
              </a:buClr>
              <a:buSzPts val="1500"/>
              <a:buFont typeface="Lato"/>
              <a:buChar char="➔"/>
            </a:pPr>
            <a:r>
              <a:rPr lang="en-GB" b="1" i="0" u="none" strike="noStrike" cap="none" dirty="0" err="1">
                <a:solidFill>
                  <a:schemeClr val="dk1"/>
                </a:solidFill>
                <a:latin typeface="Times New Roman" panose="02020603050405020304" pitchFamily="18" charset="0"/>
                <a:ea typeface="Lato"/>
                <a:cs typeface="Times New Roman" panose="02020603050405020304" pitchFamily="18" charset="0"/>
                <a:sym typeface="Lato"/>
              </a:rPr>
              <a:t>RowNumber</a:t>
            </a:r>
            <a:r>
              <a:rPr lang="en-GB" b="1"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a:t>
            </a:r>
            <a:r>
              <a:rPr lang="en-GB" b="0"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 The row number in the dataset, likely used for reference or indexing.</a:t>
            </a:r>
            <a:endParaRPr b="0" i="0" u="none" strike="noStrike" cap="none" dirty="0">
              <a:solidFill>
                <a:schemeClr val="dk1"/>
              </a:solidFill>
              <a:latin typeface="Times New Roman" panose="02020603050405020304" pitchFamily="18" charset="0"/>
              <a:ea typeface="Lato"/>
              <a:cs typeface="Times New Roman" panose="02020603050405020304" pitchFamily="18" charset="0"/>
              <a:sym typeface="Lato"/>
            </a:endParaRPr>
          </a:p>
          <a:p>
            <a:pPr marL="457200" marR="0" lvl="0" indent="-323850" algn="l" rtl="0">
              <a:lnSpc>
                <a:spcPct val="115000"/>
              </a:lnSpc>
              <a:spcBef>
                <a:spcPts val="1000"/>
              </a:spcBef>
              <a:spcAft>
                <a:spcPts val="0"/>
              </a:spcAft>
              <a:buClr>
                <a:schemeClr val="dk1"/>
              </a:buClr>
              <a:buSzPts val="1500"/>
              <a:buFont typeface="Lato"/>
              <a:buChar char="➔"/>
            </a:pPr>
            <a:r>
              <a:rPr lang="en-GB" b="1" i="0" u="none" strike="noStrike" cap="none" dirty="0" err="1">
                <a:solidFill>
                  <a:schemeClr val="dk1"/>
                </a:solidFill>
                <a:latin typeface="Times New Roman" panose="02020603050405020304" pitchFamily="18" charset="0"/>
                <a:ea typeface="Lato"/>
                <a:cs typeface="Times New Roman" panose="02020603050405020304" pitchFamily="18" charset="0"/>
                <a:sym typeface="Lato"/>
              </a:rPr>
              <a:t>CustomerId</a:t>
            </a:r>
            <a:r>
              <a:rPr lang="en-GB" b="1"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a:t>
            </a:r>
            <a:r>
              <a:rPr lang="en-GB" b="0"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 A unique identifier for each customer.</a:t>
            </a:r>
            <a:endParaRPr b="0" i="0" u="none" strike="noStrike" cap="none" dirty="0">
              <a:solidFill>
                <a:schemeClr val="dk1"/>
              </a:solidFill>
              <a:latin typeface="Times New Roman" panose="02020603050405020304" pitchFamily="18" charset="0"/>
              <a:ea typeface="Lato"/>
              <a:cs typeface="Times New Roman" panose="02020603050405020304" pitchFamily="18" charset="0"/>
              <a:sym typeface="Lato"/>
            </a:endParaRPr>
          </a:p>
          <a:p>
            <a:pPr marL="457200" marR="0" lvl="0" indent="-323850" algn="l" rtl="0">
              <a:lnSpc>
                <a:spcPct val="100000"/>
              </a:lnSpc>
              <a:spcBef>
                <a:spcPts val="1000"/>
              </a:spcBef>
              <a:spcAft>
                <a:spcPts val="0"/>
              </a:spcAft>
              <a:buClr>
                <a:schemeClr val="dk1"/>
              </a:buClr>
              <a:buSzPts val="1500"/>
              <a:buFont typeface="Lato"/>
              <a:buChar char="➔"/>
            </a:pPr>
            <a:r>
              <a:rPr lang="en-GB" b="1" i="0" u="none" strike="noStrike" cap="none" dirty="0" err="1">
                <a:solidFill>
                  <a:schemeClr val="dk1"/>
                </a:solidFill>
                <a:latin typeface="Times New Roman" panose="02020603050405020304" pitchFamily="18" charset="0"/>
                <a:ea typeface="Lato"/>
                <a:cs typeface="Times New Roman" panose="02020603050405020304" pitchFamily="18" charset="0"/>
                <a:sym typeface="Lato"/>
              </a:rPr>
              <a:t>CreditScore</a:t>
            </a:r>
            <a:r>
              <a:rPr lang="en-GB" b="1"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 </a:t>
            </a:r>
            <a:r>
              <a:rPr lang="en-GB" b="0"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A numerical representation of the customer's creditworthiness.</a:t>
            </a:r>
            <a:endParaRPr b="0" i="0" u="none" strike="noStrike" cap="none" dirty="0">
              <a:solidFill>
                <a:schemeClr val="dk1"/>
              </a:solidFill>
              <a:latin typeface="Times New Roman" panose="02020603050405020304" pitchFamily="18" charset="0"/>
              <a:ea typeface="Lato"/>
              <a:cs typeface="Times New Roman" panose="02020603050405020304" pitchFamily="18" charset="0"/>
              <a:sym typeface="Lato"/>
            </a:endParaRPr>
          </a:p>
          <a:p>
            <a:pPr marL="914400" marR="0" lvl="1" indent="-323850" algn="l" rtl="0">
              <a:lnSpc>
                <a:spcPct val="100000"/>
              </a:lnSpc>
              <a:spcBef>
                <a:spcPts val="0"/>
              </a:spcBef>
              <a:spcAft>
                <a:spcPts val="0"/>
              </a:spcAft>
              <a:buClr>
                <a:schemeClr val="dk1"/>
              </a:buClr>
              <a:buSzPts val="1500"/>
              <a:buFont typeface="Lato"/>
              <a:buChar char="◆"/>
            </a:pPr>
            <a:r>
              <a:rPr lang="en-GB" b="1"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Credit score: </a:t>
            </a:r>
            <a:endParaRPr b="1" i="0" u="none" strike="noStrike" cap="none" dirty="0">
              <a:solidFill>
                <a:schemeClr val="dk1"/>
              </a:solidFill>
              <a:latin typeface="Times New Roman" panose="02020603050405020304" pitchFamily="18" charset="0"/>
              <a:ea typeface="Lato"/>
              <a:cs typeface="Times New Roman" panose="02020603050405020304" pitchFamily="18" charset="0"/>
              <a:sym typeface="Lato"/>
            </a:endParaRPr>
          </a:p>
          <a:p>
            <a:pPr marL="1371600" marR="0" lvl="2" indent="-323850" algn="l" rtl="0">
              <a:lnSpc>
                <a:spcPct val="100000"/>
              </a:lnSpc>
              <a:spcBef>
                <a:spcPts val="0"/>
              </a:spcBef>
              <a:spcAft>
                <a:spcPts val="0"/>
              </a:spcAft>
              <a:buClr>
                <a:schemeClr val="dk1"/>
              </a:buClr>
              <a:buSzPts val="1500"/>
              <a:buFont typeface="Lato"/>
              <a:buChar char="●"/>
            </a:pPr>
            <a:r>
              <a:rPr lang="en-GB" b="0"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Excellent: 800–850</a:t>
            </a:r>
            <a:endParaRPr b="0" i="0" u="none" strike="noStrike" cap="none" dirty="0">
              <a:solidFill>
                <a:schemeClr val="dk1"/>
              </a:solidFill>
              <a:latin typeface="Times New Roman" panose="02020603050405020304" pitchFamily="18" charset="0"/>
              <a:ea typeface="Lato"/>
              <a:cs typeface="Times New Roman" panose="02020603050405020304" pitchFamily="18" charset="0"/>
              <a:sym typeface="Lato"/>
            </a:endParaRPr>
          </a:p>
          <a:p>
            <a:pPr marL="1371600" marR="0" lvl="2" indent="-323850" algn="l" rtl="0">
              <a:lnSpc>
                <a:spcPct val="100000"/>
              </a:lnSpc>
              <a:spcBef>
                <a:spcPts val="0"/>
              </a:spcBef>
              <a:spcAft>
                <a:spcPts val="0"/>
              </a:spcAft>
              <a:buClr>
                <a:schemeClr val="dk1"/>
              </a:buClr>
              <a:buSzPts val="1500"/>
              <a:buFont typeface="Lato"/>
              <a:buChar char="●"/>
            </a:pPr>
            <a:r>
              <a:rPr lang="en-GB" b="0"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Very Good: 740–799</a:t>
            </a:r>
            <a:endParaRPr b="0" i="0" u="none" strike="noStrike" cap="none" dirty="0">
              <a:solidFill>
                <a:schemeClr val="dk1"/>
              </a:solidFill>
              <a:latin typeface="Times New Roman" panose="02020603050405020304" pitchFamily="18" charset="0"/>
              <a:ea typeface="Lato"/>
              <a:cs typeface="Times New Roman" panose="02020603050405020304" pitchFamily="18" charset="0"/>
              <a:sym typeface="Lato"/>
            </a:endParaRPr>
          </a:p>
          <a:p>
            <a:pPr marL="1371600" marR="0" lvl="2" indent="-323850" algn="l" rtl="0">
              <a:lnSpc>
                <a:spcPct val="100000"/>
              </a:lnSpc>
              <a:spcBef>
                <a:spcPts val="0"/>
              </a:spcBef>
              <a:spcAft>
                <a:spcPts val="0"/>
              </a:spcAft>
              <a:buClr>
                <a:schemeClr val="dk1"/>
              </a:buClr>
              <a:buSzPts val="1500"/>
              <a:buFont typeface="Lato"/>
              <a:buChar char="●"/>
            </a:pPr>
            <a:r>
              <a:rPr lang="en-GB" b="0"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Good: 670–739</a:t>
            </a:r>
            <a:endParaRPr b="0" i="0" u="none" strike="noStrike" cap="none" dirty="0">
              <a:solidFill>
                <a:schemeClr val="dk1"/>
              </a:solidFill>
              <a:latin typeface="Times New Roman" panose="02020603050405020304" pitchFamily="18" charset="0"/>
              <a:ea typeface="Lato"/>
              <a:cs typeface="Times New Roman" panose="02020603050405020304" pitchFamily="18" charset="0"/>
              <a:sym typeface="Lato"/>
            </a:endParaRPr>
          </a:p>
          <a:p>
            <a:pPr marL="1371600" marR="0" lvl="2" indent="-323850" algn="l" rtl="0">
              <a:lnSpc>
                <a:spcPct val="100000"/>
              </a:lnSpc>
              <a:spcBef>
                <a:spcPts val="0"/>
              </a:spcBef>
              <a:spcAft>
                <a:spcPts val="0"/>
              </a:spcAft>
              <a:buClr>
                <a:schemeClr val="dk1"/>
              </a:buClr>
              <a:buSzPts val="1500"/>
              <a:buFont typeface="Lato"/>
              <a:buChar char="●"/>
            </a:pPr>
            <a:r>
              <a:rPr lang="en-GB" b="0"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Fair: 580–669</a:t>
            </a:r>
            <a:endParaRPr b="0" i="0" u="none" strike="noStrike" cap="none" dirty="0">
              <a:solidFill>
                <a:schemeClr val="dk1"/>
              </a:solidFill>
              <a:latin typeface="Times New Roman" panose="02020603050405020304" pitchFamily="18" charset="0"/>
              <a:ea typeface="Lato"/>
              <a:cs typeface="Times New Roman" panose="02020603050405020304" pitchFamily="18" charset="0"/>
              <a:sym typeface="Lato"/>
            </a:endParaRPr>
          </a:p>
          <a:p>
            <a:pPr marL="1371600" marR="0" lvl="2" indent="-323850" algn="l" rtl="0">
              <a:lnSpc>
                <a:spcPct val="100000"/>
              </a:lnSpc>
              <a:spcBef>
                <a:spcPts val="0"/>
              </a:spcBef>
              <a:spcAft>
                <a:spcPts val="0"/>
              </a:spcAft>
              <a:buClr>
                <a:schemeClr val="dk1"/>
              </a:buClr>
              <a:buSzPts val="1500"/>
              <a:buFont typeface="Lato"/>
              <a:buChar char="●"/>
            </a:pPr>
            <a:r>
              <a:rPr lang="en-GB" b="0"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Poor: 300–579</a:t>
            </a:r>
            <a:endParaRPr b="0" i="0" u="none" strike="noStrike" cap="none" dirty="0">
              <a:solidFill>
                <a:schemeClr val="dk1"/>
              </a:solidFill>
              <a:latin typeface="Times New Roman" panose="02020603050405020304" pitchFamily="18" charset="0"/>
              <a:ea typeface="Lato"/>
              <a:cs typeface="Times New Roman" panose="02020603050405020304" pitchFamily="18" charset="0"/>
              <a:sym typeface="Lato"/>
            </a:endParaRPr>
          </a:p>
          <a:p>
            <a:pPr marL="457200" marR="0" lvl="0" indent="-323850" algn="l" rtl="0">
              <a:lnSpc>
                <a:spcPct val="115000"/>
              </a:lnSpc>
              <a:spcBef>
                <a:spcPts val="1000"/>
              </a:spcBef>
              <a:spcAft>
                <a:spcPts val="0"/>
              </a:spcAft>
              <a:buClr>
                <a:schemeClr val="dk1"/>
              </a:buClr>
              <a:buSzPts val="1500"/>
              <a:buFont typeface="Lato"/>
              <a:buChar char="➔"/>
            </a:pPr>
            <a:r>
              <a:rPr lang="en-GB" b="1" i="0" u="none" strike="noStrike" cap="none" dirty="0" err="1">
                <a:solidFill>
                  <a:schemeClr val="dk1"/>
                </a:solidFill>
                <a:latin typeface="Times New Roman" panose="02020603050405020304" pitchFamily="18" charset="0"/>
                <a:ea typeface="Lato"/>
                <a:cs typeface="Times New Roman" panose="02020603050405020304" pitchFamily="18" charset="0"/>
                <a:sym typeface="Lato"/>
              </a:rPr>
              <a:t>GeographyID</a:t>
            </a:r>
            <a:r>
              <a:rPr lang="en-GB" b="1"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a:t>
            </a:r>
            <a:r>
              <a:rPr lang="en-GB" b="0"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 A numerical identifier that likely corresponds to a geographical location, such as a country or region.</a:t>
            </a:r>
            <a:endParaRPr b="0" i="0" u="none" strike="noStrike" cap="none" dirty="0">
              <a:solidFill>
                <a:schemeClr val="dk1"/>
              </a:solidFill>
              <a:latin typeface="Times New Roman" panose="02020603050405020304" pitchFamily="18" charset="0"/>
              <a:ea typeface="Lato"/>
              <a:cs typeface="Times New Roman" panose="02020603050405020304" pitchFamily="18" charset="0"/>
              <a:sym typeface="Lato"/>
            </a:endParaRPr>
          </a:p>
          <a:p>
            <a:pPr marL="457200" marR="0" lvl="0" indent="-323850" algn="l" rtl="0">
              <a:lnSpc>
                <a:spcPct val="115000"/>
              </a:lnSpc>
              <a:spcBef>
                <a:spcPts val="1000"/>
              </a:spcBef>
              <a:spcAft>
                <a:spcPts val="1000"/>
              </a:spcAft>
              <a:buClr>
                <a:schemeClr val="dk1"/>
              </a:buClr>
              <a:buSzPts val="1500"/>
              <a:buFont typeface="Lato"/>
              <a:buChar char="➔"/>
            </a:pPr>
            <a:r>
              <a:rPr lang="en-GB" b="1" i="0" u="none" strike="noStrike" cap="none" dirty="0" err="1">
                <a:solidFill>
                  <a:schemeClr val="dk1"/>
                </a:solidFill>
                <a:latin typeface="Times New Roman" panose="02020603050405020304" pitchFamily="18" charset="0"/>
                <a:ea typeface="Lato"/>
                <a:cs typeface="Times New Roman" panose="02020603050405020304" pitchFamily="18" charset="0"/>
                <a:sym typeface="Lato"/>
              </a:rPr>
              <a:t>GenderID</a:t>
            </a:r>
            <a:r>
              <a:rPr lang="en-GB" b="1"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a:t>
            </a:r>
            <a:r>
              <a:rPr lang="en-GB" b="0"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 A numerical identifier for the customer's gender, where for example, '1' could represent male and '2' could represent female.</a:t>
            </a:r>
          </a:p>
          <a:p>
            <a:pPr marL="457200" marR="0" lvl="0" indent="-323850" algn="l" rtl="0">
              <a:lnSpc>
                <a:spcPct val="115000"/>
              </a:lnSpc>
              <a:spcBef>
                <a:spcPts val="0"/>
              </a:spcBef>
              <a:spcAft>
                <a:spcPts val="0"/>
              </a:spcAft>
              <a:buClr>
                <a:srgbClr val="000000"/>
              </a:buClr>
              <a:buSzPts val="1500"/>
              <a:buFont typeface="Arial"/>
              <a:buChar char="➔"/>
            </a:pPr>
            <a:r>
              <a:rPr lang="en-US" b="1"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Age:</a:t>
            </a:r>
            <a:r>
              <a:rPr lang="en-US" b="0"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 The age of the customer.</a:t>
            </a:r>
          </a:p>
          <a:p>
            <a:pPr marL="457200" marR="0" lvl="0" indent="-330200" algn="l" rtl="0">
              <a:lnSpc>
                <a:spcPct val="125000"/>
              </a:lnSpc>
              <a:spcBef>
                <a:spcPts val="1000"/>
              </a:spcBef>
              <a:spcAft>
                <a:spcPts val="0"/>
              </a:spcAft>
              <a:buClr>
                <a:schemeClr val="dk1"/>
              </a:buClr>
              <a:buSzPts val="1600"/>
              <a:buFont typeface="Arial"/>
              <a:buChar char="➔"/>
            </a:pPr>
            <a:r>
              <a:rPr lang="en-US" b="1"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Exited:</a:t>
            </a:r>
            <a:r>
              <a:rPr lang="en-US" b="0"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 whether or not the customer left the bank.</a:t>
            </a:r>
          </a:p>
          <a:p>
            <a:pPr marL="1371600" marR="0" lvl="2" indent="-330200" algn="l" rtl="0">
              <a:lnSpc>
                <a:spcPct val="125000"/>
              </a:lnSpc>
              <a:spcBef>
                <a:spcPts val="0"/>
              </a:spcBef>
              <a:spcAft>
                <a:spcPts val="0"/>
              </a:spcAft>
              <a:buClr>
                <a:schemeClr val="dk1"/>
              </a:buClr>
              <a:buSzPts val="1600"/>
              <a:buFont typeface="Arial"/>
              <a:buChar char="●"/>
            </a:pPr>
            <a:r>
              <a:rPr lang="en-US" b="0"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0 represents Retain </a:t>
            </a:r>
          </a:p>
          <a:p>
            <a:pPr marL="1371600" marR="0" lvl="2" indent="-330200" algn="l" rtl="0">
              <a:lnSpc>
                <a:spcPct val="125000"/>
              </a:lnSpc>
              <a:spcBef>
                <a:spcPts val="0"/>
              </a:spcBef>
              <a:spcAft>
                <a:spcPts val="0"/>
              </a:spcAft>
              <a:buClr>
                <a:schemeClr val="dk1"/>
              </a:buClr>
              <a:buSzPts val="1600"/>
              <a:buFont typeface="Arial"/>
              <a:buChar char="●"/>
            </a:pPr>
            <a:r>
              <a:rPr lang="en-US" b="0"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1 represents Exit</a:t>
            </a:r>
          </a:p>
        </p:txBody>
      </p:sp>
    </p:spTree>
    <p:extLst>
      <p:ext uri="{BB962C8B-B14F-4D97-AF65-F5344CB8AC3E}">
        <p14:creationId xmlns:p14="http://schemas.microsoft.com/office/powerpoint/2010/main" val="2519131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8;p5">
            <a:extLst>
              <a:ext uri="{FF2B5EF4-FFF2-40B4-BE49-F238E27FC236}">
                <a16:creationId xmlns:a16="http://schemas.microsoft.com/office/drawing/2014/main" id="{165ABAAA-12F2-49E0-BBB3-5E51ADF6DD30}"/>
              </a:ext>
            </a:extLst>
          </p:cNvPr>
          <p:cNvSpPr txBox="1"/>
          <p:nvPr/>
        </p:nvSpPr>
        <p:spPr>
          <a:xfrm>
            <a:off x="941294" y="282388"/>
            <a:ext cx="10271312" cy="6186279"/>
          </a:xfrm>
          <a:prstGeom prst="rect">
            <a:avLst/>
          </a:prstGeom>
          <a:noFill/>
          <a:ln>
            <a:noFill/>
          </a:ln>
        </p:spPr>
        <p:txBody>
          <a:bodyPr spcFirstLastPara="1" wrap="square" lIns="91425" tIns="91425" rIns="91425" bIns="91425" anchor="t" anchorCtr="0">
            <a:spAutoFit/>
          </a:bodyPr>
          <a:lstStyle/>
          <a:p>
            <a:pPr marL="457200" marR="0" lvl="0" indent="-323850" algn="l" rtl="0">
              <a:lnSpc>
                <a:spcPct val="125000"/>
              </a:lnSpc>
              <a:spcBef>
                <a:spcPts val="1000"/>
              </a:spcBef>
              <a:spcAft>
                <a:spcPts val="0"/>
              </a:spcAft>
              <a:buClr>
                <a:srgbClr val="000000"/>
              </a:buClr>
              <a:buSzPts val="1500"/>
              <a:buFont typeface="Arial"/>
              <a:buChar char="➔"/>
            </a:pPr>
            <a:r>
              <a:rPr lang="en-GB" b="1" i="0" u="none" strike="noStrike" cap="none" dirty="0">
                <a:solidFill>
                  <a:srgbClr val="000000"/>
                </a:solidFill>
                <a:latin typeface="Times New Roman" panose="02020603050405020304" pitchFamily="18" charset="0"/>
                <a:ea typeface="Lato"/>
                <a:cs typeface="Times New Roman" panose="02020603050405020304" pitchFamily="18" charset="0"/>
                <a:sym typeface="Lato"/>
              </a:rPr>
              <a:t>Tenure: </a:t>
            </a:r>
            <a:r>
              <a:rPr lang="en-GB" b="0" i="0" u="none" strike="noStrike" cap="none" dirty="0">
                <a:solidFill>
                  <a:srgbClr val="000000"/>
                </a:solidFill>
                <a:latin typeface="Times New Roman" panose="02020603050405020304" pitchFamily="18" charset="0"/>
                <a:ea typeface="Lato"/>
                <a:cs typeface="Times New Roman" panose="02020603050405020304" pitchFamily="18" charset="0"/>
                <a:sym typeface="Lato"/>
              </a:rPr>
              <a:t>The number of years the customer has been with the bank.</a:t>
            </a:r>
            <a:endParaRPr b="0" i="0" u="none" strike="noStrike" cap="none" dirty="0">
              <a:solidFill>
                <a:srgbClr val="000000"/>
              </a:solidFill>
              <a:latin typeface="Times New Roman" panose="02020603050405020304" pitchFamily="18" charset="0"/>
              <a:ea typeface="Lato"/>
              <a:cs typeface="Times New Roman" panose="02020603050405020304" pitchFamily="18" charset="0"/>
              <a:sym typeface="Lato"/>
            </a:endParaRPr>
          </a:p>
          <a:p>
            <a:pPr marL="457200" marR="0" lvl="0" indent="-323850" algn="l" rtl="0">
              <a:lnSpc>
                <a:spcPct val="125000"/>
              </a:lnSpc>
              <a:spcBef>
                <a:spcPts val="1000"/>
              </a:spcBef>
              <a:spcAft>
                <a:spcPts val="0"/>
              </a:spcAft>
              <a:buClr>
                <a:srgbClr val="000000"/>
              </a:buClr>
              <a:buSzPts val="1500"/>
              <a:buFont typeface="Arial"/>
              <a:buChar char="➔"/>
            </a:pPr>
            <a:r>
              <a:rPr lang="en-GB" b="1" i="0" u="none" strike="noStrike" cap="none" dirty="0">
                <a:solidFill>
                  <a:srgbClr val="000000"/>
                </a:solidFill>
                <a:latin typeface="Times New Roman" panose="02020603050405020304" pitchFamily="18" charset="0"/>
                <a:ea typeface="Lato"/>
                <a:cs typeface="Times New Roman" panose="02020603050405020304" pitchFamily="18" charset="0"/>
                <a:sym typeface="Lato"/>
              </a:rPr>
              <a:t>Balance: </a:t>
            </a:r>
            <a:r>
              <a:rPr lang="en-GB" b="0" i="0" u="none" strike="noStrike" cap="none" dirty="0">
                <a:solidFill>
                  <a:srgbClr val="000000"/>
                </a:solidFill>
                <a:latin typeface="Times New Roman" panose="02020603050405020304" pitchFamily="18" charset="0"/>
                <a:ea typeface="Lato"/>
                <a:cs typeface="Times New Roman" panose="02020603050405020304" pitchFamily="18" charset="0"/>
                <a:sym typeface="Lato"/>
              </a:rPr>
              <a:t>Current balance in the customer's account.</a:t>
            </a:r>
            <a:endParaRPr b="0" i="0" u="none" strike="noStrike" cap="none" dirty="0">
              <a:solidFill>
                <a:srgbClr val="000000"/>
              </a:solidFill>
              <a:latin typeface="Times New Roman" panose="02020603050405020304" pitchFamily="18" charset="0"/>
              <a:ea typeface="Lato"/>
              <a:cs typeface="Times New Roman" panose="02020603050405020304" pitchFamily="18" charset="0"/>
              <a:sym typeface="Lato"/>
            </a:endParaRPr>
          </a:p>
          <a:p>
            <a:pPr marL="457200" marR="0" lvl="0" indent="-323850" algn="l" rtl="0">
              <a:lnSpc>
                <a:spcPct val="125000"/>
              </a:lnSpc>
              <a:spcBef>
                <a:spcPts val="1000"/>
              </a:spcBef>
              <a:spcAft>
                <a:spcPts val="0"/>
              </a:spcAft>
              <a:buClr>
                <a:srgbClr val="000000"/>
              </a:buClr>
              <a:buSzPts val="1500"/>
              <a:buFont typeface="Arial"/>
              <a:buChar char="➔"/>
            </a:pPr>
            <a:r>
              <a:rPr lang="en-GB" b="1" i="0" u="none" strike="noStrike" cap="none" dirty="0" err="1">
                <a:solidFill>
                  <a:srgbClr val="000000"/>
                </a:solidFill>
                <a:latin typeface="Times New Roman" panose="02020603050405020304" pitchFamily="18" charset="0"/>
                <a:ea typeface="Lato"/>
                <a:cs typeface="Times New Roman" panose="02020603050405020304" pitchFamily="18" charset="0"/>
                <a:sym typeface="Lato"/>
              </a:rPr>
              <a:t>NumOfProducts</a:t>
            </a:r>
            <a:r>
              <a:rPr lang="en-GB" b="0" i="0" u="none" strike="noStrike" cap="none" dirty="0">
                <a:solidFill>
                  <a:srgbClr val="000000"/>
                </a:solidFill>
                <a:latin typeface="Times New Roman" panose="02020603050405020304" pitchFamily="18" charset="0"/>
                <a:ea typeface="Lato"/>
                <a:cs typeface="Times New Roman" panose="02020603050405020304" pitchFamily="18" charset="0"/>
                <a:sym typeface="Lato"/>
              </a:rPr>
              <a:t>: refers to the number of products that a customer has purchased through the bank. </a:t>
            </a:r>
            <a:endParaRPr b="0" i="0" u="none" strike="noStrike" cap="none" dirty="0">
              <a:solidFill>
                <a:srgbClr val="000000"/>
              </a:solidFill>
              <a:latin typeface="Times New Roman" panose="02020603050405020304" pitchFamily="18" charset="0"/>
              <a:ea typeface="Lato"/>
              <a:cs typeface="Times New Roman" panose="02020603050405020304" pitchFamily="18" charset="0"/>
              <a:sym typeface="Lato"/>
            </a:endParaRPr>
          </a:p>
          <a:p>
            <a:pPr marL="457200" marR="0" lvl="0" indent="-323850" algn="l" rtl="0">
              <a:lnSpc>
                <a:spcPct val="125000"/>
              </a:lnSpc>
              <a:spcBef>
                <a:spcPts val="1000"/>
              </a:spcBef>
              <a:spcAft>
                <a:spcPts val="0"/>
              </a:spcAft>
              <a:buClr>
                <a:srgbClr val="000000"/>
              </a:buClr>
              <a:buSzPts val="1500"/>
              <a:buFont typeface="Arial"/>
              <a:buChar char="➔"/>
            </a:pPr>
            <a:r>
              <a:rPr lang="en-GB" b="1" i="0" u="none" strike="noStrike" cap="none" dirty="0" err="1">
                <a:solidFill>
                  <a:srgbClr val="000000"/>
                </a:solidFill>
                <a:latin typeface="Times New Roman" panose="02020603050405020304" pitchFamily="18" charset="0"/>
                <a:ea typeface="Lato"/>
                <a:cs typeface="Times New Roman" panose="02020603050405020304" pitchFamily="18" charset="0"/>
                <a:sym typeface="Lato"/>
              </a:rPr>
              <a:t>HasCrCard</a:t>
            </a:r>
            <a:r>
              <a:rPr lang="en-GB" b="0" i="0" u="none" strike="noStrike" cap="none" dirty="0">
                <a:solidFill>
                  <a:srgbClr val="000000"/>
                </a:solidFill>
                <a:latin typeface="Times New Roman" panose="02020603050405020304" pitchFamily="18" charset="0"/>
                <a:ea typeface="Lato"/>
                <a:cs typeface="Times New Roman" panose="02020603050405020304" pitchFamily="18" charset="0"/>
                <a:sym typeface="Lato"/>
              </a:rPr>
              <a:t>: denotes whether or not a customer has a credit card. This column is also relevant, since people with a credit card are less likely to leave the bank.</a:t>
            </a:r>
            <a:endParaRPr b="0" i="0" u="none" strike="noStrike" cap="none" dirty="0">
              <a:solidFill>
                <a:srgbClr val="000000"/>
              </a:solidFill>
              <a:latin typeface="Times New Roman" panose="02020603050405020304" pitchFamily="18" charset="0"/>
              <a:ea typeface="Lato"/>
              <a:cs typeface="Times New Roman" panose="02020603050405020304" pitchFamily="18" charset="0"/>
              <a:sym typeface="Lato"/>
            </a:endParaRPr>
          </a:p>
          <a:p>
            <a:pPr marL="1371600" marR="0" lvl="2" indent="-323850" algn="l" rtl="0">
              <a:lnSpc>
                <a:spcPct val="125000"/>
              </a:lnSpc>
              <a:spcBef>
                <a:spcPts val="1000"/>
              </a:spcBef>
              <a:spcAft>
                <a:spcPts val="0"/>
              </a:spcAft>
              <a:buClr>
                <a:srgbClr val="000000"/>
              </a:buClr>
              <a:buSzPts val="1500"/>
              <a:buFont typeface="Arial"/>
              <a:buChar char="●"/>
            </a:pPr>
            <a:r>
              <a:rPr lang="en-GB" b="0" i="0" u="none" strike="noStrike" cap="none" dirty="0">
                <a:solidFill>
                  <a:srgbClr val="000000"/>
                </a:solidFill>
                <a:latin typeface="Times New Roman" panose="02020603050405020304" pitchFamily="18" charset="0"/>
                <a:ea typeface="Lato"/>
                <a:cs typeface="Times New Roman" panose="02020603050405020304" pitchFamily="18" charset="0"/>
                <a:sym typeface="Lato"/>
              </a:rPr>
              <a:t>1 represents credit card holder</a:t>
            </a:r>
            <a:endParaRPr b="0" i="0" u="none" strike="noStrike" cap="none" dirty="0">
              <a:solidFill>
                <a:srgbClr val="000000"/>
              </a:solidFill>
              <a:latin typeface="Times New Roman" panose="02020603050405020304" pitchFamily="18" charset="0"/>
              <a:ea typeface="Lato"/>
              <a:cs typeface="Times New Roman" panose="02020603050405020304" pitchFamily="18" charset="0"/>
              <a:sym typeface="Lato"/>
            </a:endParaRPr>
          </a:p>
          <a:p>
            <a:pPr marL="1371600" marR="0" lvl="2" indent="-323850" algn="l" rtl="0">
              <a:lnSpc>
                <a:spcPct val="125000"/>
              </a:lnSpc>
              <a:spcBef>
                <a:spcPts val="1000"/>
              </a:spcBef>
              <a:spcAft>
                <a:spcPts val="1000"/>
              </a:spcAft>
              <a:buClr>
                <a:srgbClr val="000000"/>
              </a:buClr>
              <a:buSzPts val="1500"/>
              <a:buFont typeface="Arial"/>
              <a:buChar char="●"/>
            </a:pPr>
            <a:r>
              <a:rPr lang="en-GB" b="0" i="0" u="none" strike="noStrike" cap="none" dirty="0">
                <a:solidFill>
                  <a:srgbClr val="000000"/>
                </a:solidFill>
                <a:latin typeface="Times New Roman" panose="02020603050405020304" pitchFamily="18" charset="0"/>
                <a:ea typeface="Lato"/>
                <a:cs typeface="Times New Roman" panose="02020603050405020304" pitchFamily="18" charset="0"/>
                <a:sym typeface="Lato"/>
              </a:rPr>
              <a:t>0 represents non credit card holder</a:t>
            </a:r>
          </a:p>
          <a:p>
            <a:pPr marL="457200" marR="0" lvl="0" indent="-330200" algn="l" rtl="0">
              <a:lnSpc>
                <a:spcPct val="125000"/>
              </a:lnSpc>
              <a:spcBef>
                <a:spcPts val="0"/>
              </a:spcBef>
              <a:spcAft>
                <a:spcPts val="0"/>
              </a:spcAft>
              <a:buClr>
                <a:schemeClr val="dk1"/>
              </a:buClr>
              <a:buSzPts val="1600"/>
              <a:buFont typeface="Arial"/>
              <a:buChar char="➔"/>
            </a:pPr>
            <a:r>
              <a:rPr lang="en-US" b="1" i="0" u="none" strike="noStrike" cap="none" dirty="0" err="1">
                <a:solidFill>
                  <a:schemeClr val="dk1"/>
                </a:solidFill>
                <a:latin typeface="Times New Roman" panose="02020603050405020304" pitchFamily="18" charset="0"/>
                <a:ea typeface="Lato"/>
                <a:cs typeface="Times New Roman" panose="02020603050405020304" pitchFamily="18" charset="0"/>
                <a:sym typeface="Lato"/>
              </a:rPr>
              <a:t>IsActiveMember</a:t>
            </a:r>
            <a:r>
              <a:rPr lang="en-US" b="1"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a:t>
            </a:r>
            <a:r>
              <a:rPr lang="en-US" b="0"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 active customers are less likely to leave the bank (as per the criteria defined by the bank for identifying the activeness).</a:t>
            </a:r>
          </a:p>
          <a:p>
            <a:pPr marL="1371600" marR="0" lvl="2" indent="-330200" algn="l" rtl="0">
              <a:lnSpc>
                <a:spcPct val="125000"/>
              </a:lnSpc>
              <a:spcBef>
                <a:spcPts val="0"/>
              </a:spcBef>
              <a:spcAft>
                <a:spcPts val="0"/>
              </a:spcAft>
              <a:buClr>
                <a:schemeClr val="dk1"/>
              </a:buClr>
              <a:buSzPts val="1600"/>
              <a:buFont typeface="Arial"/>
              <a:buChar char="●"/>
            </a:pPr>
            <a:r>
              <a:rPr lang="en-US" b="0"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1 represents Active Member</a:t>
            </a:r>
          </a:p>
          <a:p>
            <a:pPr marL="1371600" marR="0" lvl="2" indent="-330200" algn="l" rtl="0">
              <a:lnSpc>
                <a:spcPct val="125000"/>
              </a:lnSpc>
              <a:spcBef>
                <a:spcPts val="0"/>
              </a:spcBef>
              <a:spcAft>
                <a:spcPts val="0"/>
              </a:spcAft>
              <a:buClr>
                <a:schemeClr val="dk1"/>
              </a:buClr>
              <a:buSzPts val="1600"/>
              <a:buFont typeface="Arial"/>
              <a:buChar char="●"/>
            </a:pPr>
            <a:r>
              <a:rPr lang="en-US" b="0"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0 represents Inactive Member</a:t>
            </a:r>
          </a:p>
          <a:p>
            <a:pPr marL="457200" marR="0" lvl="0" indent="-330200" algn="l" rtl="0">
              <a:lnSpc>
                <a:spcPct val="125000"/>
              </a:lnSpc>
              <a:spcBef>
                <a:spcPts val="1000"/>
              </a:spcBef>
              <a:spcAft>
                <a:spcPts val="0"/>
              </a:spcAft>
              <a:buClr>
                <a:schemeClr val="dk1"/>
              </a:buClr>
              <a:buSzPts val="1600"/>
              <a:buFont typeface="Arial"/>
              <a:buChar char="➔"/>
            </a:pPr>
            <a:r>
              <a:rPr lang="en-US" b="1"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Estimated Salary: </a:t>
            </a:r>
            <a:r>
              <a:rPr lang="en-US" b="0"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as with balance, people with lower salaries are more likely to leave the bank compared to those with higher salaries.</a:t>
            </a:r>
          </a:p>
          <a:p>
            <a:pPr marL="457200" indent="-330200">
              <a:lnSpc>
                <a:spcPct val="125000"/>
              </a:lnSpc>
              <a:spcBef>
                <a:spcPts val="1000"/>
              </a:spcBef>
              <a:buClr>
                <a:schemeClr val="dk1"/>
              </a:buClr>
              <a:buSzPts val="1600"/>
              <a:buFont typeface="Arial"/>
              <a:buChar char="➔"/>
            </a:pPr>
            <a:r>
              <a:rPr lang="en-US" b="1"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Bank DOJ:</a:t>
            </a:r>
            <a:r>
              <a:rPr lang="en-US" b="0" i="0" u="none" strike="noStrike" cap="none" dirty="0">
                <a:solidFill>
                  <a:schemeClr val="dk1"/>
                </a:solidFill>
                <a:latin typeface="Times New Roman" panose="02020603050405020304" pitchFamily="18" charset="0"/>
                <a:ea typeface="Lato"/>
                <a:cs typeface="Times New Roman" panose="02020603050405020304" pitchFamily="18" charset="0"/>
                <a:sym typeface="Lato"/>
              </a:rPr>
              <a:t> date when the Customer associated/joined  with the bank.</a:t>
            </a:r>
          </a:p>
        </p:txBody>
      </p:sp>
    </p:spTree>
    <p:extLst>
      <p:ext uri="{BB962C8B-B14F-4D97-AF65-F5344CB8AC3E}">
        <p14:creationId xmlns:p14="http://schemas.microsoft.com/office/powerpoint/2010/main" val="1323203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DCBF0-8A10-4B44-8CB6-7D13B3CDE67B}"/>
              </a:ext>
            </a:extLst>
          </p:cNvPr>
          <p:cNvSpPr>
            <a:spLocks noGrp="1"/>
          </p:cNvSpPr>
          <p:nvPr>
            <p:ph type="title"/>
          </p:nvPr>
        </p:nvSpPr>
        <p:spPr>
          <a:xfrm>
            <a:off x="1141412" y="282341"/>
            <a:ext cx="9905998" cy="605164"/>
          </a:xfrm>
        </p:spPr>
        <p:txBody>
          <a:bodyPr>
            <a:normAutofit/>
          </a:bodyPr>
          <a:lstStyle/>
          <a:p>
            <a:pPr algn="ctr"/>
            <a:r>
              <a:rPr lang="en-IN" sz="2800" b="1" dirty="0">
                <a:solidFill>
                  <a:schemeClr val="bg1"/>
                </a:solidFill>
                <a:latin typeface="Times New Roman" panose="02020603050405020304" pitchFamily="18" charset="0"/>
                <a:cs typeface="Times New Roman" panose="02020603050405020304" pitchFamily="18" charset="0"/>
              </a:rPr>
              <a:t>Analytical</a:t>
            </a:r>
          </a:p>
        </p:txBody>
      </p:sp>
      <p:pic>
        <p:nvPicPr>
          <p:cNvPr id="4" name="Picture 3">
            <a:extLst>
              <a:ext uri="{FF2B5EF4-FFF2-40B4-BE49-F238E27FC236}">
                <a16:creationId xmlns:a16="http://schemas.microsoft.com/office/drawing/2014/main" id="{B1967118-8C54-4490-9E10-60F8DDCA8C73}"/>
              </a:ext>
            </a:extLst>
          </p:cNvPr>
          <p:cNvPicPr/>
          <p:nvPr/>
        </p:nvPicPr>
        <p:blipFill rotWithShape="1">
          <a:blip r:embed="rId2" cstate="email">
            <a:extLst>
              <a:ext uri="{28A0092B-C50C-407E-A947-70E740481C1C}">
                <a14:useLocalDpi xmlns:a14="http://schemas.microsoft.com/office/drawing/2010/main"/>
              </a:ext>
            </a:extLst>
          </a:blip>
          <a:srcRect/>
          <a:stretch/>
        </p:blipFill>
        <p:spPr bwMode="auto">
          <a:xfrm>
            <a:off x="930740" y="1062318"/>
            <a:ext cx="10327342" cy="500230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66122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C014B21-7BB2-429B-9C5E-5DBB5FC1B50F}"/>
              </a:ext>
            </a:extLst>
          </p:cNvPr>
          <p:cNvSpPr txBox="1"/>
          <p:nvPr/>
        </p:nvSpPr>
        <p:spPr>
          <a:xfrm>
            <a:off x="3709819" y="258015"/>
            <a:ext cx="4046220" cy="461665"/>
          </a:xfrm>
          <a:prstGeom prst="rect">
            <a:avLst/>
          </a:prstGeom>
          <a:noFill/>
        </p:spPr>
        <p:txBody>
          <a:bodyPr wrap="square" rtlCol="0">
            <a:spAutoFit/>
          </a:bodyPr>
          <a:lstStyle/>
          <a:p>
            <a:pPr algn="ctr"/>
            <a:r>
              <a:rPr lang="en-IN" sz="2400" b="1" dirty="0">
                <a:solidFill>
                  <a:schemeClr val="bg1"/>
                </a:solidFill>
              </a:rPr>
              <a:t>Visualization</a:t>
            </a:r>
            <a:endParaRPr lang="en-IN" sz="2000" b="1" dirty="0">
              <a:solidFill>
                <a:schemeClr val="bg1"/>
              </a:solidFill>
            </a:endParaRPr>
          </a:p>
        </p:txBody>
      </p:sp>
      <p:pic>
        <p:nvPicPr>
          <p:cNvPr id="4" name="Picture 3">
            <a:extLst>
              <a:ext uri="{FF2B5EF4-FFF2-40B4-BE49-F238E27FC236}">
                <a16:creationId xmlns:a16="http://schemas.microsoft.com/office/drawing/2014/main" id="{FD24C1D0-EDC0-44DF-B004-CF78B5831D06}"/>
              </a:ext>
            </a:extLst>
          </p:cNvPr>
          <p:cNvPicPr/>
          <p:nvPr/>
        </p:nvPicPr>
        <p:blipFill rotWithShape="1">
          <a:blip r:embed="rId2" cstate="email">
            <a:extLst>
              <a:ext uri="{28A0092B-C50C-407E-A947-70E740481C1C}">
                <a14:useLocalDpi xmlns:a14="http://schemas.microsoft.com/office/drawing/2010/main"/>
              </a:ext>
            </a:extLst>
          </a:blip>
          <a:srcRect/>
          <a:stretch/>
        </p:blipFill>
        <p:spPr bwMode="auto">
          <a:xfrm>
            <a:off x="1301507" y="881043"/>
            <a:ext cx="4205701" cy="3381675"/>
          </a:xfrm>
          <a:prstGeom prst="rect">
            <a:avLst/>
          </a:prstGeom>
          <a:ln>
            <a:noFill/>
          </a:ln>
          <a:extLst>
            <a:ext uri="{53640926-AAD7-44D8-BBD7-CCE9431645EC}">
              <a14:shadowObscured xmlns:a14="http://schemas.microsoft.com/office/drawing/2010/main"/>
            </a:ext>
          </a:extLst>
        </p:spPr>
      </p:pic>
      <p:sp>
        <p:nvSpPr>
          <p:cNvPr id="2" name="TextBox 1">
            <a:extLst>
              <a:ext uri="{FF2B5EF4-FFF2-40B4-BE49-F238E27FC236}">
                <a16:creationId xmlns:a16="http://schemas.microsoft.com/office/drawing/2014/main" id="{81ECCD6B-A621-4B92-803A-45AB23E5A78D}"/>
              </a:ext>
            </a:extLst>
          </p:cNvPr>
          <p:cNvSpPr txBox="1"/>
          <p:nvPr/>
        </p:nvSpPr>
        <p:spPr>
          <a:xfrm>
            <a:off x="1301507" y="4424081"/>
            <a:ext cx="4205701" cy="1015663"/>
          </a:xfrm>
          <a:prstGeom prst="rect">
            <a:avLst/>
          </a:prstGeom>
          <a:noFill/>
        </p:spPr>
        <p:txBody>
          <a:bodyPr wrap="square" rtlCol="0">
            <a:spAutoFit/>
          </a:bodyPr>
          <a:lstStyle/>
          <a:p>
            <a:pPr algn="just"/>
            <a:r>
              <a:rPr lang="en-IN" sz="2000" dirty="0">
                <a:solidFill>
                  <a:schemeClr val="bg1"/>
                </a:solidFill>
                <a:latin typeface="Times New Roman" panose="02020603050405020304" pitchFamily="18" charset="0"/>
                <a:cs typeface="Times New Roman" panose="02020603050405020304" pitchFamily="18" charset="0"/>
              </a:rPr>
              <a:t>In the above visual, The estimated average salary of the customer by gender and the Geographic region</a:t>
            </a:r>
          </a:p>
        </p:txBody>
      </p:sp>
      <p:pic>
        <p:nvPicPr>
          <p:cNvPr id="8" name="Picture 7">
            <a:extLst>
              <a:ext uri="{FF2B5EF4-FFF2-40B4-BE49-F238E27FC236}">
                <a16:creationId xmlns:a16="http://schemas.microsoft.com/office/drawing/2014/main" id="{9B05EEB9-173B-4E12-BBE3-1AEC7B59268E}"/>
              </a:ext>
            </a:extLst>
          </p:cNvPr>
          <p:cNvPicPr/>
          <p:nvPr/>
        </p:nvPicPr>
        <p:blipFill rotWithShape="1">
          <a:blip r:embed="rId3" cstate="email">
            <a:extLst>
              <a:ext uri="{28A0092B-C50C-407E-A947-70E740481C1C}">
                <a14:useLocalDpi xmlns:a14="http://schemas.microsoft.com/office/drawing/2010/main"/>
              </a:ext>
            </a:extLst>
          </a:blip>
          <a:srcRect/>
          <a:stretch/>
        </p:blipFill>
        <p:spPr bwMode="auto">
          <a:xfrm>
            <a:off x="5945204" y="881043"/>
            <a:ext cx="4945289" cy="3381675"/>
          </a:xfrm>
          <a:prstGeom prst="rect">
            <a:avLst/>
          </a:prstGeom>
          <a:ln>
            <a:noFill/>
          </a:ln>
          <a:extLst>
            <a:ext uri="{53640926-AAD7-44D8-BBD7-CCE9431645EC}">
              <a14:shadowObscured xmlns:a14="http://schemas.microsoft.com/office/drawing/2010/main"/>
            </a:ext>
          </a:extLst>
        </p:spPr>
      </p:pic>
      <p:sp>
        <p:nvSpPr>
          <p:cNvPr id="9" name="TextBox 8">
            <a:extLst>
              <a:ext uri="{FF2B5EF4-FFF2-40B4-BE49-F238E27FC236}">
                <a16:creationId xmlns:a16="http://schemas.microsoft.com/office/drawing/2014/main" id="{62370E34-EF36-4E38-9007-4AF21870F658}"/>
              </a:ext>
            </a:extLst>
          </p:cNvPr>
          <p:cNvSpPr txBox="1"/>
          <p:nvPr/>
        </p:nvSpPr>
        <p:spPr>
          <a:xfrm>
            <a:off x="5945204" y="4424080"/>
            <a:ext cx="5081384" cy="1015663"/>
          </a:xfrm>
          <a:prstGeom prst="rect">
            <a:avLst/>
          </a:prstGeom>
          <a:noFill/>
        </p:spPr>
        <p:txBody>
          <a:bodyPr wrap="square" rtlCol="0">
            <a:spAutoFit/>
          </a:bodyPr>
          <a:lstStyle/>
          <a:p>
            <a:pPr algn="just"/>
            <a:r>
              <a:rPr lang="en-IN" sz="2000" dirty="0">
                <a:solidFill>
                  <a:schemeClr val="bg1"/>
                </a:solidFill>
                <a:latin typeface="Times New Roman" panose="02020603050405020304" pitchFamily="18" charset="0"/>
                <a:cs typeface="Times New Roman" panose="02020603050405020304" pitchFamily="18" charset="0"/>
              </a:rPr>
              <a:t>In the above visual, </a:t>
            </a:r>
            <a:r>
              <a:rPr lang="en-GB" sz="2000" dirty="0">
                <a:solidFill>
                  <a:schemeClr val="bg1"/>
                </a:solidFill>
                <a:effectLst/>
                <a:latin typeface="Times New Roman" panose="02020603050405020304" pitchFamily="18" charset="0"/>
                <a:ea typeface="Lato" panose="020F0502020204030203" pitchFamily="34" charset="0"/>
              </a:rPr>
              <a:t>analyse the correlation between salary and balance and determine it differs for customers who have exited or not. </a:t>
            </a:r>
            <a:endParaRPr lang="en-IN"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9647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8F2F6E-C0D2-4078-98B8-E9F9E92F69D7}"/>
              </a:ext>
            </a:extLst>
          </p:cNvPr>
          <p:cNvPicPr/>
          <p:nvPr/>
        </p:nvPicPr>
        <p:blipFill rotWithShape="1">
          <a:blip r:embed="rId2" cstate="email">
            <a:extLst>
              <a:ext uri="{28A0092B-C50C-407E-A947-70E740481C1C}">
                <a14:useLocalDpi xmlns:a14="http://schemas.microsoft.com/office/drawing/2010/main"/>
              </a:ext>
            </a:extLst>
          </a:blip>
          <a:srcRect/>
          <a:stretch/>
        </p:blipFill>
        <p:spPr bwMode="auto">
          <a:xfrm>
            <a:off x="1452282" y="632012"/>
            <a:ext cx="4383909" cy="3773487"/>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91E2F817-1BB0-47D1-BD67-0F23D126F40C}"/>
              </a:ext>
            </a:extLst>
          </p:cNvPr>
          <p:cNvSpPr txBox="1"/>
          <p:nvPr/>
        </p:nvSpPr>
        <p:spPr>
          <a:xfrm>
            <a:off x="1452282" y="4706469"/>
            <a:ext cx="4383909" cy="1631216"/>
          </a:xfrm>
          <a:prstGeom prst="rect">
            <a:avLst/>
          </a:prstGeom>
          <a:noFill/>
        </p:spPr>
        <p:txBody>
          <a:bodyPr wrap="square" rtlCol="0">
            <a:spAutoFit/>
          </a:bodyPr>
          <a:lstStyle/>
          <a:p>
            <a:pPr algn="just"/>
            <a:r>
              <a:rPr lang="en-IN" sz="2000" dirty="0">
                <a:solidFill>
                  <a:schemeClr val="bg1"/>
                </a:solidFill>
                <a:latin typeface="Times New Roman" panose="02020603050405020304" pitchFamily="18" charset="0"/>
                <a:cs typeface="Times New Roman" panose="02020603050405020304" pitchFamily="18" charset="0"/>
              </a:rPr>
              <a:t>In the above visual, Firstly I segment the customer on the basis of their Credit score and then visualize this on the basis of credit score segment wise customer churn.</a:t>
            </a:r>
          </a:p>
        </p:txBody>
      </p:sp>
      <p:pic>
        <p:nvPicPr>
          <p:cNvPr id="6" name="Picture 5">
            <a:extLst>
              <a:ext uri="{FF2B5EF4-FFF2-40B4-BE49-F238E27FC236}">
                <a16:creationId xmlns:a16="http://schemas.microsoft.com/office/drawing/2014/main" id="{A570BE3E-12E4-41DC-B17A-4B3230C5AAF7}"/>
              </a:ext>
            </a:extLst>
          </p:cNvPr>
          <p:cNvPicPr/>
          <p:nvPr/>
        </p:nvPicPr>
        <p:blipFill rotWithShape="1">
          <a:blip r:embed="rId3" cstate="email">
            <a:extLst>
              <a:ext uri="{28A0092B-C50C-407E-A947-70E740481C1C}">
                <a14:useLocalDpi xmlns:a14="http://schemas.microsoft.com/office/drawing/2010/main"/>
              </a:ext>
            </a:extLst>
          </a:blip>
          <a:srcRect/>
          <a:stretch/>
        </p:blipFill>
        <p:spPr bwMode="auto">
          <a:xfrm>
            <a:off x="6096000" y="632012"/>
            <a:ext cx="4643718" cy="3773486"/>
          </a:xfrm>
          <a:prstGeom prst="rect">
            <a:avLst/>
          </a:prstGeom>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DE254A95-5063-481A-8E6B-11AA1F91F2CE}"/>
              </a:ext>
            </a:extLst>
          </p:cNvPr>
          <p:cNvSpPr txBox="1"/>
          <p:nvPr/>
        </p:nvSpPr>
        <p:spPr>
          <a:xfrm>
            <a:off x="6096000" y="4594772"/>
            <a:ext cx="4643718" cy="1323439"/>
          </a:xfrm>
          <a:prstGeom prst="rect">
            <a:avLst/>
          </a:prstGeom>
          <a:noFill/>
        </p:spPr>
        <p:txBody>
          <a:bodyPr wrap="square" rtlCol="0">
            <a:spAutoFit/>
          </a:bodyPr>
          <a:lstStyle/>
          <a:p>
            <a:pPr algn="just"/>
            <a:r>
              <a:rPr lang="en-IN" sz="2000" dirty="0">
                <a:solidFill>
                  <a:schemeClr val="bg1"/>
                </a:solidFill>
                <a:latin typeface="Times New Roman" panose="02020603050405020304" pitchFamily="18" charset="0"/>
                <a:cs typeface="Times New Roman" panose="02020603050405020304" pitchFamily="18" charset="0"/>
              </a:rPr>
              <a:t>In the above visual, Firstly I segment the customer on the basis of their age and then visualize this on the basis of age segment and Number of  Customer .</a:t>
            </a:r>
          </a:p>
        </p:txBody>
      </p:sp>
    </p:spTree>
    <p:extLst>
      <p:ext uri="{BB962C8B-B14F-4D97-AF65-F5344CB8AC3E}">
        <p14:creationId xmlns:p14="http://schemas.microsoft.com/office/powerpoint/2010/main" val="1155238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818ECC-43E8-4A2B-80C5-5B33F686A3ED}"/>
              </a:ext>
            </a:extLst>
          </p:cNvPr>
          <p:cNvSpPr>
            <a:spLocks noGrp="1"/>
          </p:cNvSpPr>
          <p:nvPr>
            <p:ph idx="1"/>
          </p:nvPr>
        </p:nvSpPr>
        <p:spPr>
          <a:xfrm>
            <a:off x="1256649" y="4447412"/>
            <a:ext cx="9905999" cy="2039472"/>
          </a:xfrm>
        </p:spPr>
        <p:txBody>
          <a:bodyPr>
            <a:normAutofit lnSpcReduction="10000"/>
          </a:bodyPr>
          <a:lstStyle/>
          <a:p>
            <a:pPr marL="179705" indent="0" algn="just">
              <a:lnSpc>
                <a:spcPct val="115000"/>
              </a:lnSpc>
              <a:buNone/>
            </a:pPr>
            <a:r>
              <a:rPr lang="en-GB" sz="2000" b="1"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About the observed patterns in spending habits</a:t>
            </a:r>
            <a:endParaRPr lang="en-IN" sz="2000" b="1"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The Long-term customers has higher spending levels and the new customers has lowest spending habits.</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The Long-term customers that have credit card and have no credit card are almost same spending levels.</a:t>
            </a:r>
            <a:r>
              <a:rPr lang="en-GB" sz="1800" dirty="0">
                <a:effectLst/>
                <a:latin typeface="Times New Roman" panose="02020603050405020304" pitchFamily="18" charset="0"/>
                <a:ea typeface="Arial" panose="020B0604020202020204" pitchFamily="34" charset="0"/>
              </a:rPr>
              <a:t> </a:t>
            </a:r>
            <a:endParaRPr lang="en-IN" sz="2800" dirty="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3CF3CAB-D113-4B8B-B2D9-73EE210CC944}"/>
              </a:ext>
            </a:extLst>
          </p:cNvPr>
          <p:cNvPicPr/>
          <p:nvPr/>
        </p:nvPicPr>
        <p:blipFill rotWithShape="1">
          <a:blip r:embed="rId2" cstate="email">
            <a:extLst>
              <a:ext uri="{28A0092B-C50C-407E-A947-70E740481C1C}">
                <a14:useLocalDpi xmlns:a14="http://schemas.microsoft.com/office/drawing/2010/main"/>
              </a:ext>
            </a:extLst>
          </a:blip>
          <a:srcRect/>
          <a:stretch/>
        </p:blipFill>
        <p:spPr bwMode="auto">
          <a:xfrm>
            <a:off x="1530071" y="677700"/>
            <a:ext cx="9359153" cy="3465775"/>
          </a:xfrm>
          <a:prstGeom prst="rect">
            <a:avLst/>
          </a:prstGeom>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13C98F2B-90BC-4B4B-8E44-A79DA24F09F1}"/>
              </a:ext>
            </a:extLst>
          </p:cNvPr>
          <p:cNvSpPr txBox="1"/>
          <p:nvPr/>
        </p:nvSpPr>
        <p:spPr>
          <a:xfrm>
            <a:off x="2864224" y="13447"/>
            <a:ext cx="6091516" cy="523220"/>
          </a:xfrm>
          <a:prstGeom prst="rect">
            <a:avLst/>
          </a:prstGeom>
          <a:noFill/>
        </p:spPr>
        <p:txBody>
          <a:bodyPr wrap="square">
            <a:spAutoFit/>
          </a:bodyPr>
          <a:lstStyle/>
          <a:p>
            <a:pPr algn="ctr"/>
            <a:r>
              <a:rPr lang="en-GB" sz="2800" b="1" dirty="0">
                <a:solidFill>
                  <a:schemeClr val="bg1"/>
                </a:solidFill>
                <a:effectLst/>
                <a:latin typeface="Times New Roman" panose="02020603050405020304" pitchFamily="18" charset="0"/>
                <a:ea typeface="Arial" panose="020B0604020202020204" pitchFamily="34" charset="0"/>
              </a:rPr>
              <a:t>Customer Behaviour Analysis</a:t>
            </a:r>
            <a:endParaRPr lang="en-IN" sz="3200" b="1"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3891211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B7D56A-01D2-474E-AA38-A2D570139F93}"/>
              </a:ext>
            </a:extLst>
          </p:cNvPr>
          <p:cNvSpPr>
            <a:spLocks noGrp="1"/>
          </p:cNvSpPr>
          <p:nvPr>
            <p:ph idx="1"/>
          </p:nvPr>
        </p:nvSpPr>
        <p:spPr>
          <a:xfrm>
            <a:off x="1517928" y="4424082"/>
            <a:ext cx="9629682" cy="1936378"/>
          </a:xfrm>
        </p:spPr>
        <p:txBody>
          <a:bodyPr>
            <a:noAutofit/>
          </a:bodyPr>
          <a:lstStyle/>
          <a:p>
            <a:pPr marL="342900" lvl="0" indent="-342900" algn="just">
              <a:lnSpc>
                <a:spcPct val="100000"/>
              </a:lnSpc>
              <a:buFont typeface="Symbol" panose="05050102010706020507" pitchFamily="18" charset="2"/>
              <a:buChar char=""/>
            </a:pP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Here we can compare the geographic distribution of active accounts or not Active and churn count with demographic factors such as age, gender, to identify any patterns or trends. </a:t>
            </a:r>
            <a:endParaRPr lang="en-IN" sz="2000" dirty="0">
              <a:solidFill>
                <a:schemeClr val="bg1"/>
              </a:solidFill>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lnSpc>
                <a:spcPct val="100000"/>
              </a:lnSpc>
              <a:buFont typeface="Symbol" panose="05050102010706020507" pitchFamily="18" charset="2"/>
              <a:buChar char=""/>
            </a:pP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According to the visual, there is age bucket, geographic region, Gender and Active or Inactive.</a:t>
            </a:r>
            <a:endParaRPr lang="en-IN" sz="2000" dirty="0">
              <a:solidFill>
                <a:schemeClr val="bg1"/>
              </a:solidFill>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lnSpc>
                <a:spcPct val="100000"/>
              </a:lnSpc>
              <a:buFont typeface="Symbol" panose="05050102010706020507" pitchFamily="18" charset="2"/>
              <a:buChar char=""/>
            </a:pP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The customer churns the bank more who are Inactive Customers.</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pPr marL="179705" indent="0" algn="just">
              <a:lnSpc>
                <a:spcPct val="100000"/>
              </a:lnSpc>
              <a:buNone/>
            </a:pP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BC225707-8517-4CE6-8C53-D936FF16B4A8}"/>
              </a:ext>
            </a:extLst>
          </p:cNvPr>
          <p:cNvPicPr/>
          <p:nvPr/>
        </p:nvPicPr>
        <p:blipFill rotWithShape="1">
          <a:blip r:embed="rId2" cstate="email">
            <a:extLst>
              <a:ext uri="{28A0092B-C50C-407E-A947-70E740481C1C}">
                <a14:useLocalDpi xmlns:a14="http://schemas.microsoft.com/office/drawing/2010/main"/>
              </a:ext>
            </a:extLst>
          </a:blip>
          <a:srcRect/>
          <a:stretch/>
        </p:blipFill>
        <p:spPr bwMode="auto">
          <a:xfrm>
            <a:off x="1262434" y="543719"/>
            <a:ext cx="10140669" cy="3880363"/>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28EA855B-8675-4151-855E-72077C2E2EF5}"/>
              </a:ext>
            </a:extLst>
          </p:cNvPr>
          <p:cNvSpPr txBox="1"/>
          <p:nvPr/>
        </p:nvSpPr>
        <p:spPr>
          <a:xfrm>
            <a:off x="2850776" y="13447"/>
            <a:ext cx="6104964" cy="523220"/>
          </a:xfrm>
          <a:prstGeom prst="rect">
            <a:avLst/>
          </a:prstGeom>
          <a:noFill/>
        </p:spPr>
        <p:txBody>
          <a:bodyPr wrap="square">
            <a:spAutoFit/>
          </a:bodyPr>
          <a:lstStyle/>
          <a:p>
            <a:pPr algn="ctr"/>
            <a:r>
              <a:rPr lang="en-GB" sz="2800" b="1" dirty="0">
                <a:solidFill>
                  <a:schemeClr val="bg1"/>
                </a:solidFill>
                <a:effectLst/>
                <a:latin typeface="Times New Roman" panose="02020603050405020304" pitchFamily="18" charset="0"/>
                <a:ea typeface="Arial" panose="020B0604020202020204" pitchFamily="34" charset="0"/>
              </a:rPr>
              <a:t>Geographic Market Trends</a:t>
            </a:r>
            <a:endParaRPr lang="en-IN" sz="2800" b="1" dirty="0">
              <a:solidFill>
                <a:schemeClr val="bg1"/>
              </a:solidFill>
            </a:endParaRPr>
          </a:p>
        </p:txBody>
      </p:sp>
    </p:spTree>
    <p:extLst>
      <p:ext uri="{BB962C8B-B14F-4D97-AF65-F5344CB8AC3E}">
        <p14:creationId xmlns:p14="http://schemas.microsoft.com/office/powerpoint/2010/main" val="3712640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D64E6-C233-4971-9A75-71A7CBE3FAB2}"/>
              </a:ext>
            </a:extLst>
          </p:cNvPr>
          <p:cNvSpPr>
            <a:spLocks noGrp="1"/>
          </p:cNvSpPr>
          <p:nvPr>
            <p:ph type="title"/>
          </p:nvPr>
        </p:nvSpPr>
        <p:spPr>
          <a:xfrm>
            <a:off x="1235542" y="188212"/>
            <a:ext cx="9905998" cy="699294"/>
          </a:xfrm>
        </p:spPr>
        <p:txBody>
          <a:bodyPr>
            <a:normAutofit/>
          </a:bodyPr>
          <a:lstStyle/>
          <a:p>
            <a:pPr algn="ctr"/>
            <a:r>
              <a:rPr lang="en-IN" sz="2800" b="1" dirty="0">
                <a:solidFill>
                  <a:schemeClr val="bg1"/>
                </a:solidFill>
                <a:latin typeface="Times New Roman" panose="02020603050405020304" pitchFamily="18" charset="0"/>
                <a:cs typeface="Times New Roman" panose="02020603050405020304" pitchFamily="18" charset="0"/>
              </a:rPr>
              <a:t>Risk Management Assessment</a:t>
            </a:r>
          </a:p>
        </p:txBody>
      </p:sp>
      <p:pic>
        <p:nvPicPr>
          <p:cNvPr id="4" name="Picture 3">
            <a:extLst>
              <a:ext uri="{FF2B5EF4-FFF2-40B4-BE49-F238E27FC236}">
                <a16:creationId xmlns:a16="http://schemas.microsoft.com/office/drawing/2014/main" id="{23DC9855-DEF3-4E6F-A345-ED957972BBA9}"/>
              </a:ext>
            </a:extLst>
          </p:cNvPr>
          <p:cNvPicPr/>
          <p:nvPr/>
        </p:nvPicPr>
        <p:blipFill rotWithShape="1">
          <a:blip r:embed="rId2" cstate="email">
            <a:extLst>
              <a:ext uri="{28A0092B-C50C-407E-A947-70E740481C1C}">
                <a14:useLocalDpi xmlns:a14="http://schemas.microsoft.com/office/drawing/2010/main"/>
              </a:ext>
            </a:extLst>
          </a:blip>
          <a:srcRect/>
          <a:stretch/>
        </p:blipFill>
        <p:spPr bwMode="auto">
          <a:xfrm>
            <a:off x="1235542" y="887505"/>
            <a:ext cx="9720916" cy="555363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37318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6AB70B-7775-433A-9B9E-B19FD81FEC9F}"/>
              </a:ext>
            </a:extLst>
          </p:cNvPr>
          <p:cNvSpPr>
            <a:spLocks noGrp="1"/>
          </p:cNvSpPr>
          <p:nvPr>
            <p:ph idx="1"/>
          </p:nvPr>
        </p:nvSpPr>
        <p:spPr>
          <a:xfrm>
            <a:off x="1143000" y="1069041"/>
            <a:ext cx="9905999" cy="4719918"/>
          </a:xfrm>
        </p:spPr>
        <p:txBody>
          <a:bodyPr>
            <a:noAutofit/>
          </a:bodyPr>
          <a:lstStyle/>
          <a:p>
            <a:pPr marL="342900" lvl="0" indent="-342900" algn="just">
              <a:lnSpc>
                <a:spcPct val="115000"/>
              </a:lnSpc>
              <a:buFont typeface="Symbol" panose="05050102010706020507" pitchFamily="18" charset="2"/>
              <a:buChar char=""/>
            </a:pP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Aggregate the customer data by demographic segments to calculate average credit score.</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GB" sz="2000" b="1"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D</a:t>
            </a:r>
            <a:r>
              <a:rPr lang="en-GB" sz="2000" b="1"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emographic segments</a:t>
            </a: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 like age groups, gender, geographic regions.</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GB" sz="2000" b="1"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Identify financial risk</a:t>
            </a: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pPr marL="914400" algn="just">
              <a:lnSpc>
                <a:spcPct val="115000"/>
              </a:lnSpc>
            </a:pP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low credit scores, or low account balances. </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GB" sz="2000" b="1"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Higher risk: </a:t>
            </a:r>
            <a:endParaRPr lang="en-IN" sz="2000" b="1" dirty="0">
              <a:solidFill>
                <a:schemeClr val="bg1"/>
              </a:solidFill>
              <a:latin typeface="Times New Roman" panose="02020603050405020304" pitchFamily="18" charset="0"/>
              <a:ea typeface="Arial" panose="020B0604020202020204" pitchFamily="34" charset="0"/>
              <a:cs typeface="Times New Roman" panose="02020603050405020304" pitchFamily="18" charset="0"/>
            </a:endParaRPr>
          </a:p>
          <a:p>
            <a:pPr marL="800100" lvl="1" indent="-342900" algn="just">
              <a:lnSpc>
                <a:spcPct val="115000"/>
              </a:lnSpc>
              <a:buFont typeface="Symbol" panose="05050102010706020507" pitchFamily="18" charset="2"/>
              <a:buChar char=""/>
            </a:pPr>
            <a:r>
              <a:rPr lang="en-GB"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Look for patterns or trends such as:</a:t>
            </a:r>
            <a:endParaRPr lang="en-IN"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pPr marL="1200150" lvl="2" indent="-285750" algn="just">
              <a:lnSpc>
                <a:spcPct val="115000"/>
              </a:lnSpc>
              <a:buFont typeface="Courier New" panose="02070309020205020404" pitchFamily="49" charset="0"/>
              <a:buChar char="o"/>
            </a:pP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Here age groups 50+ have average credit scores or higher debt levels.</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pPr marL="1200150" lvl="2" indent="-285750" algn="just">
              <a:lnSpc>
                <a:spcPct val="115000"/>
              </a:lnSpc>
              <a:buFont typeface="Courier New" panose="02070309020205020404" pitchFamily="49" charset="0"/>
              <a:buChar char="o"/>
            </a:pP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Every geographic region where female customer higher churn rate.</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pPr marL="1200150" lvl="2" indent="-285750" algn="just">
              <a:lnSpc>
                <a:spcPct val="115000"/>
              </a:lnSpc>
              <a:buFont typeface="Courier New" panose="02070309020205020404" pitchFamily="49" charset="0"/>
              <a:buChar char="o"/>
            </a:pP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Have more inactive accounts, have higher churn rates.</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endParaRPr lang="en-IN"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6644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BA007E-7E3A-4962-8436-57ABFFAD01DE}"/>
              </a:ext>
            </a:extLst>
          </p:cNvPr>
          <p:cNvSpPr>
            <a:spLocks noGrp="1"/>
          </p:cNvSpPr>
          <p:nvPr>
            <p:ph idx="1"/>
          </p:nvPr>
        </p:nvSpPr>
        <p:spPr>
          <a:xfrm>
            <a:off x="1385047" y="4572000"/>
            <a:ext cx="9685570" cy="1640541"/>
          </a:xfrm>
        </p:spPr>
        <p:txBody>
          <a:bodyPr>
            <a:normAutofit/>
          </a:bodyPr>
          <a:lstStyle/>
          <a:p>
            <a:pPr marL="408305" algn="just">
              <a:lnSpc>
                <a:spcPct val="115000"/>
              </a:lnSpc>
            </a:pP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With the confidence interval is 95 % forecast the tenure value for 1year </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pPr marL="408305" algn="just">
              <a:lnSpc>
                <a:spcPct val="115000"/>
              </a:lnSpc>
            </a:pP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There is Forecast value is 2.61 and upper band value is 2.64 lower band value is 2.58.</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pPr marL="408305" algn="just">
              <a:lnSpc>
                <a:spcPct val="115000"/>
              </a:lnSpc>
            </a:pP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And also forecast for day.</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endParaRPr lang="en-IN" sz="2800" dirty="0">
              <a:solidFill>
                <a:schemeClr val="bg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F52EA20-A8E1-4483-A635-CFD9958DDA00}"/>
              </a:ext>
            </a:extLst>
          </p:cNvPr>
          <p:cNvPicPr/>
          <p:nvPr/>
        </p:nvPicPr>
        <p:blipFill rotWithShape="1">
          <a:blip r:embed="rId2" cstate="email">
            <a:extLst>
              <a:ext uri="{28A0092B-C50C-407E-A947-70E740481C1C}">
                <a14:useLocalDpi xmlns:a14="http://schemas.microsoft.com/office/drawing/2010/main"/>
              </a:ext>
            </a:extLst>
          </a:blip>
          <a:srcRect/>
          <a:stretch/>
        </p:blipFill>
        <p:spPr bwMode="auto">
          <a:xfrm>
            <a:off x="1375287" y="517151"/>
            <a:ext cx="9695330" cy="3718673"/>
          </a:xfrm>
          <a:prstGeom prst="rect">
            <a:avLst/>
          </a:prstGeom>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239429A7-6BAB-4B2F-82DD-9BE811596952}"/>
              </a:ext>
            </a:extLst>
          </p:cNvPr>
          <p:cNvSpPr txBox="1"/>
          <p:nvPr/>
        </p:nvSpPr>
        <p:spPr>
          <a:xfrm>
            <a:off x="3043518" y="26795"/>
            <a:ext cx="6104964" cy="523220"/>
          </a:xfrm>
          <a:prstGeom prst="rect">
            <a:avLst/>
          </a:prstGeom>
          <a:noFill/>
        </p:spPr>
        <p:txBody>
          <a:bodyPr wrap="square">
            <a:spAutoFit/>
          </a:bodyPr>
          <a:lstStyle/>
          <a:p>
            <a:pPr algn="ctr"/>
            <a:r>
              <a:rPr lang="en-GB" sz="2800" b="1" dirty="0">
                <a:solidFill>
                  <a:schemeClr val="bg1"/>
                </a:solidFill>
                <a:effectLst/>
                <a:latin typeface="Times New Roman" panose="02020603050405020304" pitchFamily="18" charset="0"/>
                <a:ea typeface="Arial" panose="020B0604020202020204" pitchFamily="34" charset="0"/>
              </a:rPr>
              <a:t>Customer Tenure Value Forecast</a:t>
            </a:r>
            <a:endParaRPr lang="en-IN" sz="2800" b="1" dirty="0">
              <a:solidFill>
                <a:schemeClr val="bg1"/>
              </a:solidFill>
            </a:endParaRPr>
          </a:p>
        </p:txBody>
      </p:sp>
    </p:spTree>
    <p:extLst>
      <p:ext uri="{BB962C8B-B14F-4D97-AF65-F5344CB8AC3E}">
        <p14:creationId xmlns:p14="http://schemas.microsoft.com/office/powerpoint/2010/main" val="1271349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71D422-7201-4343-A90F-3A314FC45DED}"/>
              </a:ext>
            </a:extLst>
          </p:cNvPr>
          <p:cNvPicPr/>
          <p:nvPr/>
        </p:nvPicPr>
        <p:blipFill rotWithShape="1">
          <a:blip r:embed="rId2" cstate="email">
            <a:extLst>
              <a:ext uri="{28A0092B-C50C-407E-A947-70E740481C1C}">
                <a14:useLocalDpi xmlns:a14="http://schemas.microsoft.com/office/drawing/2010/main"/>
              </a:ext>
            </a:extLst>
          </a:blip>
          <a:srcRect/>
          <a:stretch/>
        </p:blipFill>
        <p:spPr bwMode="auto">
          <a:xfrm>
            <a:off x="1304365" y="793376"/>
            <a:ext cx="9923929" cy="5351930"/>
          </a:xfrm>
          <a:prstGeom prst="rect">
            <a:avLst/>
          </a:prstGeom>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9A52F4BA-27DE-4FE2-BD78-B306AB9A8B1A}"/>
              </a:ext>
            </a:extLst>
          </p:cNvPr>
          <p:cNvSpPr txBox="1"/>
          <p:nvPr/>
        </p:nvSpPr>
        <p:spPr>
          <a:xfrm>
            <a:off x="3509682" y="111169"/>
            <a:ext cx="6104964" cy="523220"/>
          </a:xfrm>
          <a:prstGeom prst="rect">
            <a:avLst/>
          </a:prstGeom>
          <a:noFill/>
        </p:spPr>
        <p:txBody>
          <a:bodyPr wrap="square">
            <a:spAutoFit/>
          </a:bodyPr>
          <a:lstStyle/>
          <a:p>
            <a:pPr algn="ctr"/>
            <a:r>
              <a:rPr lang="en-GB" sz="2800" b="1" dirty="0">
                <a:solidFill>
                  <a:schemeClr val="bg1"/>
                </a:solidFill>
                <a:effectLst/>
                <a:latin typeface="Times New Roman" panose="02020603050405020304" pitchFamily="18" charset="0"/>
                <a:ea typeface="Arial" panose="020B0604020202020204" pitchFamily="34" charset="0"/>
              </a:rPr>
              <a:t>Customer Exit Reasons Exploration</a:t>
            </a:r>
            <a:endParaRPr lang="en-IN" sz="2800" b="1" dirty="0">
              <a:solidFill>
                <a:schemeClr val="bg1"/>
              </a:solidFill>
            </a:endParaRPr>
          </a:p>
        </p:txBody>
      </p:sp>
    </p:spTree>
    <p:extLst>
      <p:ext uri="{BB962C8B-B14F-4D97-AF65-F5344CB8AC3E}">
        <p14:creationId xmlns:p14="http://schemas.microsoft.com/office/powerpoint/2010/main" val="23807288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EB77DC-3C3F-4C27-A666-B3E64F37434C}"/>
              </a:ext>
            </a:extLst>
          </p:cNvPr>
          <p:cNvSpPr>
            <a:spLocks noGrp="1"/>
          </p:cNvSpPr>
          <p:nvPr>
            <p:ph idx="1"/>
          </p:nvPr>
        </p:nvSpPr>
        <p:spPr>
          <a:xfrm>
            <a:off x="1248989" y="943208"/>
            <a:ext cx="9905999" cy="4971584"/>
          </a:xfrm>
        </p:spPr>
        <p:txBody>
          <a:bodyPr>
            <a:normAutofit/>
          </a:bodyPr>
          <a:lstStyle/>
          <a:p>
            <a:pPr marL="342900" lvl="0" indent="-342900">
              <a:lnSpc>
                <a:spcPct val="115000"/>
              </a:lnSpc>
              <a:buFont typeface="Symbol" panose="05050102010706020507" pitchFamily="18" charset="2"/>
              <a:buChar char=""/>
            </a:pP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Analyse the distribution of exit reasons </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Analyse the visualizations to identify any common characteristics or trends among customers who have exited the bank. </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endParaRPr lang="en-IN" sz="2000" dirty="0">
              <a:solidFill>
                <a:schemeClr val="bg1"/>
              </a:solidFill>
              <a:latin typeface="Times New Roman" panose="02020603050405020304" pitchFamily="18" charset="0"/>
              <a:cs typeface="Times New Roman" panose="02020603050405020304" pitchFamily="18" charset="0"/>
            </a:endParaRPr>
          </a:p>
          <a:p>
            <a:pPr marL="342900" lvl="0" indent="-342900">
              <a:lnSpc>
                <a:spcPct val="115000"/>
              </a:lnSpc>
              <a:buFont typeface="Symbol" panose="05050102010706020507" pitchFamily="18" charset="2"/>
              <a:buChar char=""/>
            </a:pP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As, I analysed the customer from Germany geographic regions and inactive customer has higher exit rates or age groups above 50 have higher exit rates.</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There are also differences in exit rates between male and female customers, in every geographic region the female customers have higher exit rates.</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In almost all geographic region the average credit scores have no more different</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GB"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There are also pattern inactive and female customer have higher exit rates.</a:t>
            </a:r>
            <a:endParaRPr lang="en-IN" sz="20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22993396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D1693-684C-449E-82BE-D5A83C6DC75C}"/>
              </a:ext>
            </a:extLst>
          </p:cNvPr>
          <p:cNvSpPr>
            <a:spLocks noGrp="1"/>
          </p:cNvSpPr>
          <p:nvPr>
            <p:ph type="title"/>
          </p:nvPr>
        </p:nvSpPr>
        <p:spPr>
          <a:xfrm>
            <a:off x="1125747" y="528284"/>
            <a:ext cx="9940506" cy="632766"/>
          </a:xfrm>
        </p:spPr>
        <p:txBody>
          <a:bodyPr>
            <a:normAutofit/>
          </a:bodyPr>
          <a:lstStyle/>
          <a:p>
            <a:pPr algn="ctr"/>
            <a:r>
              <a:rPr lang="en-IN" sz="2800" b="1" i="0" dirty="0">
                <a:solidFill>
                  <a:schemeClr val="bg1"/>
                </a:solidFill>
                <a:effectLst/>
                <a:latin typeface="Söhne"/>
              </a:rPr>
              <a:t>Conclusion:</a:t>
            </a:r>
            <a:endParaRPr lang="en-IN" sz="2800" dirty="0">
              <a:solidFill>
                <a:schemeClr val="bg1"/>
              </a:solidFill>
            </a:endParaRPr>
          </a:p>
        </p:txBody>
      </p:sp>
      <p:sp>
        <p:nvSpPr>
          <p:cNvPr id="4" name="Content Placeholder 2">
            <a:extLst>
              <a:ext uri="{FF2B5EF4-FFF2-40B4-BE49-F238E27FC236}">
                <a16:creationId xmlns:a16="http://schemas.microsoft.com/office/drawing/2014/main" id="{B94F20CB-299A-481D-AF4A-EA47ECD16127}"/>
              </a:ext>
            </a:extLst>
          </p:cNvPr>
          <p:cNvSpPr txBox="1">
            <a:spLocks/>
          </p:cNvSpPr>
          <p:nvPr/>
        </p:nvSpPr>
        <p:spPr>
          <a:xfrm>
            <a:off x="1723345" y="1523410"/>
            <a:ext cx="8999621" cy="381117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gn="l"/>
            <a:r>
              <a:rPr lang="en-US" sz="2000" b="0" i="0" dirty="0">
                <a:solidFill>
                  <a:schemeClr val="bg1"/>
                </a:solidFill>
                <a:effectLst/>
                <a:latin typeface="Times New Roman" panose="02020603050405020304" pitchFamily="18" charset="0"/>
                <a:cs typeface="Times New Roman" panose="02020603050405020304" pitchFamily="18" charset="0"/>
              </a:rPr>
              <a:t>In this project, we learned a lot about our customers by looking at their data. </a:t>
            </a:r>
          </a:p>
          <a:p>
            <a:pPr algn="l"/>
            <a:r>
              <a:rPr lang="en-US" sz="2000" b="0" i="0" dirty="0">
                <a:solidFill>
                  <a:schemeClr val="bg1"/>
                </a:solidFill>
                <a:effectLst/>
                <a:latin typeface="Times New Roman" panose="02020603050405020304" pitchFamily="18" charset="0"/>
                <a:cs typeface="Times New Roman" panose="02020603050405020304" pitchFamily="18" charset="0"/>
              </a:rPr>
              <a:t>We found out things like who might leave us, how well our plans to keep customers are working, and what products we should offer based on what customers already use.</a:t>
            </a:r>
          </a:p>
          <a:p>
            <a:pPr algn="l"/>
            <a:r>
              <a:rPr lang="en-US" sz="2000" b="0" i="0" dirty="0">
                <a:solidFill>
                  <a:schemeClr val="bg1"/>
                </a:solidFill>
                <a:effectLst/>
                <a:latin typeface="Times New Roman" panose="02020603050405020304" pitchFamily="18" charset="0"/>
                <a:cs typeface="Times New Roman" panose="02020603050405020304" pitchFamily="18" charset="0"/>
              </a:rPr>
              <a:t>By using data to understand our customers better, we can make smarter decisions to keep them happy and satisfied. </a:t>
            </a:r>
          </a:p>
          <a:p>
            <a:pPr algn="l"/>
            <a:r>
              <a:rPr lang="en-US" sz="2000" b="0" i="0" dirty="0">
                <a:solidFill>
                  <a:schemeClr val="bg1"/>
                </a:solidFill>
                <a:effectLst/>
                <a:latin typeface="Times New Roman" panose="02020603050405020304" pitchFamily="18" charset="0"/>
                <a:cs typeface="Times New Roman" panose="02020603050405020304" pitchFamily="18" charset="0"/>
              </a:rPr>
              <a:t>We'll keep working on making our bank better at taking care of our customers, so they'll stay with us for a long time.</a:t>
            </a:r>
          </a:p>
        </p:txBody>
      </p:sp>
    </p:spTree>
    <p:extLst>
      <p:ext uri="{BB962C8B-B14F-4D97-AF65-F5344CB8AC3E}">
        <p14:creationId xmlns:p14="http://schemas.microsoft.com/office/powerpoint/2010/main" val="5548218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6ACC68-F77C-4B11-B6DB-9487F89BEFE6}"/>
              </a:ext>
            </a:extLst>
          </p:cNvPr>
          <p:cNvPicPr/>
          <p:nvPr/>
        </p:nvPicPr>
        <p:blipFill rotWithShape="1">
          <a:blip r:embed="rId2" cstate="email">
            <a:extLst>
              <a:ext uri="{28A0092B-C50C-407E-A947-70E740481C1C}">
                <a14:useLocalDpi xmlns:a14="http://schemas.microsoft.com/office/drawing/2010/main"/>
              </a:ext>
            </a:extLst>
          </a:blip>
          <a:srcRect/>
          <a:stretch/>
        </p:blipFill>
        <p:spPr bwMode="auto">
          <a:xfrm>
            <a:off x="0" y="-13448"/>
            <a:ext cx="12192000" cy="687144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461682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56;p30"/>
          <p:cNvPicPr preferRelativeResize="0"/>
          <p:nvPr/>
        </p:nvPicPr>
        <p:blipFill>
          <a:blip r:embed="rId2">
            <a:alphaModFix/>
          </a:blip>
          <a:stretch>
            <a:fillRect/>
          </a:stretch>
        </p:blipFill>
        <p:spPr>
          <a:xfrm>
            <a:off x="1567386" y="1011796"/>
            <a:ext cx="9160715" cy="4654908"/>
          </a:xfrm>
          <a:prstGeom prst="rect">
            <a:avLst/>
          </a:prstGeom>
          <a:noFill/>
          <a:ln>
            <a:noFill/>
          </a:ln>
        </p:spPr>
      </p:pic>
    </p:spTree>
    <p:extLst>
      <p:ext uri="{BB962C8B-B14F-4D97-AF65-F5344CB8AC3E}">
        <p14:creationId xmlns:p14="http://schemas.microsoft.com/office/powerpoint/2010/main" val="17520667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Override1.xml><?xml version="1.0" encoding="utf-8"?>
<a:themeOverride xmlns:a="http://schemas.openxmlformats.org/drawingml/2006/main">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themeOverride>
</file>

<file path=docProps/app.xml><?xml version="1.0" encoding="utf-8"?>
<Properties xmlns="http://schemas.openxmlformats.org/officeDocument/2006/extended-properties" xmlns:vt="http://schemas.openxmlformats.org/officeDocument/2006/docPropsVTypes">
  <Template>Facet</Template>
  <TotalTime>6072</TotalTime>
  <Words>1390</Words>
  <Application>Microsoft Office PowerPoint</Application>
  <PresentationFormat>Widescreen</PresentationFormat>
  <Paragraphs>112</Paragraphs>
  <Slides>23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Courier New</vt:lpstr>
      <vt:lpstr>Lato</vt:lpstr>
      <vt:lpstr>Söhne</vt:lpstr>
      <vt:lpstr>Symbol</vt:lpstr>
      <vt:lpstr>Times New Roman</vt:lpstr>
      <vt:lpstr>Tw Cen MT</vt:lpstr>
      <vt:lpstr>Wingdings</vt:lpstr>
      <vt:lpstr>Circuit</vt:lpstr>
      <vt:lpstr>PowerPoint Presentation</vt:lpstr>
      <vt:lpstr>Introduction</vt:lpstr>
      <vt:lpstr>PowerPoint Presentation</vt:lpstr>
      <vt:lpstr>PowerPoint Presentation</vt:lpstr>
      <vt:lpstr>Data Cleaning &amp; Handling Missing values</vt:lpstr>
      <vt:lpstr>PowerPoint Presentation</vt:lpstr>
      <vt:lpstr>PowerPoint Presentation</vt:lpstr>
      <vt:lpstr>PowerPoint Presentation</vt:lpstr>
      <vt:lpstr>Overview of Customer Datasets</vt:lpstr>
      <vt:lpstr>PowerPoint Presentation</vt:lpstr>
      <vt:lpstr>Analytical</vt:lpstr>
      <vt:lpstr>PowerPoint Presentation</vt:lpstr>
      <vt:lpstr>PowerPoint Presentation</vt:lpstr>
      <vt:lpstr>PowerPoint Presentation</vt:lpstr>
      <vt:lpstr>PowerPoint Presentation</vt:lpstr>
      <vt:lpstr>Risk Management Assessment</vt:lpstr>
      <vt:lpstr>PowerPoint Presentation</vt:lpstr>
      <vt:lpstr>PowerPoint Presentation</vt:lpstr>
      <vt:lpstr>PowerPoint Presentation</vt:lpstr>
      <vt:lpstr>PowerPoint Presentation</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Manoj Kumar</cp:lastModifiedBy>
  <cp:revision>77</cp:revision>
  <dcterms:created xsi:type="dcterms:W3CDTF">2024-01-21T05:00:31Z</dcterms:created>
  <dcterms:modified xsi:type="dcterms:W3CDTF">2024-05-10T15:16:31Z</dcterms:modified>
</cp:coreProperties>
</file>